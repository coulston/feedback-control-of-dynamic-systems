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92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4.e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image" Target="../media/image6.w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28: Nyquist Stability Theorem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Nyquist </a:t>
            </a:r>
            <a:r>
              <a:rPr lang="en-US" dirty="0" smtClean="0"/>
              <a:t>Example </a:t>
            </a:r>
            <a:r>
              <a:rPr lang="en-US" dirty="0" smtClean="0"/>
              <a:t>(Lecture 28 Supplement)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2971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Use Nyquist analysis to determine if the closed loop system below is stable: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Looking at the phase Bode plot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smtClean="0"/>
              <a:t>below (and correlating it with the magnitude one), is it possible for the Nyquist plot to encircle the point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-1+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581400"/>
            <a:ext cx="46482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495800" y="1524000"/>
            <a:ext cx="3886200" cy="1405218"/>
            <a:chOff x="4495800" y="1524000"/>
            <a:chExt cx="3886200" cy="1405218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1524000"/>
              <a:ext cx="3886200" cy="1405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7639714"/>
                </p:ext>
              </p:extLst>
            </p:nvPr>
          </p:nvGraphicFramePr>
          <p:xfrm>
            <a:off x="6403975" y="1905000"/>
            <a:ext cx="987425" cy="503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" name="Equation" r:id="rId5" imgW="761760" imgH="393480" progId="Equation.3">
                    <p:embed/>
                  </p:oleObj>
                </mc:Choice>
                <mc:Fallback>
                  <p:oleObj name="Equation" r:id="rId5" imgW="7617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3975" y="1905000"/>
                          <a:ext cx="987425" cy="50324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5525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28 Supplement (Active Learning)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4343400" cy="26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/>
          <p:cNvGrpSpPr/>
          <p:nvPr/>
        </p:nvGrpSpPr>
        <p:grpSpPr>
          <a:xfrm>
            <a:off x="685800" y="5715000"/>
            <a:ext cx="3810000" cy="849313"/>
            <a:chOff x="685800" y="5715000"/>
            <a:chExt cx="3810000" cy="849313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9408352"/>
                </p:ext>
              </p:extLst>
            </p:nvPr>
          </p:nvGraphicFramePr>
          <p:xfrm>
            <a:off x="685800" y="5715000"/>
            <a:ext cx="1422400" cy="849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" name="Equation" r:id="rId4" imgW="685800" imgH="406080" progId="Equation.3">
                    <p:embed/>
                  </p:oleObj>
                </mc:Choice>
                <mc:Fallback>
                  <p:oleObj name="Equation" r:id="rId4" imgW="68580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800" y="5715000"/>
                          <a:ext cx="1422400" cy="849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ight Arrow 6"/>
            <p:cNvSpPr/>
            <p:nvPr/>
          </p:nvSpPr>
          <p:spPr bwMode="auto">
            <a:xfrm>
              <a:off x="2057400" y="6248400"/>
              <a:ext cx="685800" cy="258763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67000" y="5968425"/>
              <a:ext cx="182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0 RHP C.L. poles (C.L. stable)</a:t>
              </a:r>
              <a:endParaRPr lang="en-US" sz="1600" b="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953000" y="1143000"/>
            <a:ext cx="3886200" cy="1405218"/>
            <a:chOff x="4495800" y="1524000"/>
            <a:chExt cx="3886200" cy="1405218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1524000"/>
              <a:ext cx="3886200" cy="1405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9061421"/>
                </p:ext>
              </p:extLst>
            </p:nvPr>
          </p:nvGraphicFramePr>
          <p:xfrm>
            <a:off x="6403975" y="1905000"/>
            <a:ext cx="987425" cy="503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" name="Equation" r:id="rId7" imgW="761760" imgH="393480" progId="Equation.3">
                    <p:embed/>
                  </p:oleObj>
                </mc:Choice>
                <mc:Fallback>
                  <p:oleObj name="Equation" r:id="rId7" imgW="7617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3975" y="1905000"/>
                          <a:ext cx="987425" cy="50324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3"/>
          <p:cNvGrpSpPr/>
          <p:nvPr/>
        </p:nvGrpSpPr>
        <p:grpSpPr>
          <a:xfrm>
            <a:off x="3810000" y="2514600"/>
            <a:ext cx="5715000" cy="3992563"/>
            <a:chOff x="3810000" y="2514600"/>
            <a:chExt cx="5715000" cy="3992563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0483" y="2514600"/>
              <a:ext cx="5324517" cy="3992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Down Arrow 14"/>
            <p:cNvSpPr/>
            <p:nvPr/>
          </p:nvSpPr>
          <p:spPr bwMode="auto">
            <a:xfrm rot="16200000">
              <a:off x="4038600" y="5029200"/>
              <a:ext cx="457200" cy="914400"/>
            </a:xfrm>
            <a:prstGeom prst="downArrow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33400" y="3352800"/>
            <a:ext cx="3417887" cy="2133599"/>
            <a:chOff x="533400" y="3352800"/>
            <a:chExt cx="3417887" cy="2133599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4030116"/>
              <a:ext cx="3417887" cy="1456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Down Arrow 2"/>
            <p:cNvSpPr/>
            <p:nvPr/>
          </p:nvSpPr>
          <p:spPr bwMode="auto">
            <a:xfrm>
              <a:off x="1219200" y="3352800"/>
              <a:ext cx="457200" cy="762000"/>
            </a:xfrm>
            <a:prstGeom prst="downArrow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346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smtClean="0"/>
              <a:t>has a pole on the imaginary axis?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Assume a simple case: </a:t>
            </a:r>
          </a:p>
          <a:p>
            <a:endParaRPr lang="en-US" dirty="0"/>
          </a:p>
          <a:p>
            <a:r>
              <a:rPr lang="en-US" dirty="0" smtClean="0"/>
              <a:t>What 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)|</a:t>
            </a:r>
            <a:r>
              <a:rPr lang="en-US" dirty="0" smtClean="0"/>
              <a:t> and </a:t>
            </a:r>
            <a:r>
              <a:rPr lang="en-US" dirty="0" smtClean="0">
                <a:sym typeface="Symbol"/>
              </a:rPr>
              <a:t>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>
                <a:sym typeface="Symbol"/>
              </a:rPr>
              <a:t> for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307689"/>
              </p:ext>
            </p:extLst>
          </p:nvPr>
        </p:nvGraphicFramePr>
        <p:xfrm>
          <a:off x="4112266" y="960438"/>
          <a:ext cx="1221734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2266" y="960438"/>
                        <a:ext cx="1221734" cy="868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398225"/>
              </p:ext>
            </p:extLst>
          </p:nvPr>
        </p:nvGraphicFramePr>
        <p:xfrm>
          <a:off x="4876800" y="2057400"/>
          <a:ext cx="1647825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736560" imgH="685800" progId="Equation.3">
                  <p:embed/>
                </p:oleObj>
              </mc:Choice>
              <mc:Fallback>
                <p:oleObj name="Equation" r:id="rId5" imgW="73656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057400"/>
                        <a:ext cx="1647825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533400" y="3962400"/>
            <a:ext cx="2514600" cy="2362200"/>
            <a:chOff x="914400" y="3276600"/>
            <a:chExt cx="2514600" cy="2362200"/>
          </a:xfrm>
        </p:grpSpPr>
        <p:cxnSp>
          <p:nvCxnSpPr>
            <p:cNvPr id="7" name="Straight Connector 6"/>
            <p:cNvCxnSpPr/>
            <p:nvPr/>
          </p:nvCxnSpPr>
          <p:spPr bwMode="auto">
            <a:xfrm>
              <a:off x="2133600" y="3276600"/>
              <a:ext cx="0" cy="2362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 bwMode="auto">
            <a:xfrm flipH="1">
              <a:off x="914400" y="4419600"/>
              <a:ext cx="2514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2819400" y="4800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smtClean="0"/>
              <a:t>Re(</a:t>
            </a:r>
            <a:r>
              <a:rPr lang="en-US" sz="1800" b="0" i="1" dirty="0" smtClean="0"/>
              <a:t>s</a:t>
            </a:r>
            <a:r>
              <a:rPr lang="en-US" sz="1800" b="0" dirty="0" smtClean="0"/>
              <a:t>)</a:t>
            </a:r>
            <a:endParaRPr lang="en-US" sz="1800" b="0" dirty="0"/>
          </a:p>
        </p:txBody>
      </p:sp>
      <p:sp>
        <p:nvSpPr>
          <p:cNvPr id="12" name="TextBox 11"/>
          <p:cNvSpPr txBox="1"/>
          <p:nvPr/>
        </p:nvSpPr>
        <p:spPr>
          <a:xfrm>
            <a:off x="1409700" y="35930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err="1" smtClean="0"/>
              <a:t>Im</a:t>
            </a:r>
            <a:r>
              <a:rPr lang="en-US" sz="1800" b="0" dirty="0" smtClean="0"/>
              <a:t>(</a:t>
            </a:r>
            <a:r>
              <a:rPr lang="en-US" sz="1800" b="0" i="1" dirty="0" smtClean="0"/>
              <a:t>s</a:t>
            </a:r>
            <a:r>
              <a:rPr lang="en-US" sz="1800" b="0" dirty="0" smtClean="0"/>
              <a:t>)</a:t>
            </a:r>
            <a:endParaRPr lang="en-US" sz="1800" b="0" dirty="0"/>
          </a:p>
        </p:txBody>
      </p:sp>
      <p:sp>
        <p:nvSpPr>
          <p:cNvPr id="13" name="Oval 12"/>
          <p:cNvSpPr/>
          <p:nvPr/>
        </p:nvSpPr>
        <p:spPr bwMode="auto">
          <a:xfrm>
            <a:off x="1690736" y="5105400"/>
            <a:ext cx="138064" cy="121359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766936" y="5060241"/>
            <a:ext cx="138064" cy="121359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6172200" y="2743200"/>
            <a:ext cx="138064" cy="121359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553200" y="2209800"/>
            <a:ext cx="138064" cy="121359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1690736" y="4984041"/>
            <a:ext cx="138064" cy="121359"/>
          </a:xfrm>
          <a:prstGeom prst="ellipse">
            <a:avLst/>
          </a:prstGeom>
          <a:solidFill>
            <a:srgbClr val="7518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6332676" y="3237442"/>
            <a:ext cx="138064" cy="121359"/>
          </a:xfrm>
          <a:prstGeom prst="ellipse">
            <a:avLst/>
          </a:prstGeom>
          <a:solidFill>
            <a:srgbClr val="7518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486400" y="3962400"/>
            <a:ext cx="2514600" cy="2362200"/>
            <a:chOff x="914400" y="3276600"/>
            <a:chExt cx="2514600" cy="2362200"/>
          </a:xfrm>
        </p:grpSpPr>
        <p:cxnSp>
          <p:nvCxnSpPr>
            <p:cNvPr id="20" name="Straight Connector 19"/>
            <p:cNvCxnSpPr/>
            <p:nvPr/>
          </p:nvCxnSpPr>
          <p:spPr bwMode="auto">
            <a:xfrm>
              <a:off x="2133600" y="3276600"/>
              <a:ext cx="0" cy="2362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 flipH="1">
              <a:off x="914400" y="4419600"/>
              <a:ext cx="2514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7772400" y="4800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smtClean="0"/>
              <a:t>Re(</a:t>
            </a:r>
            <a:r>
              <a:rPr lang="en-US" sz="1800" b="0" i="1" dirty="0" smtClean="0"/>
              <a:t>L</a:t>
            </a:r>
            <a:r>
              <a:rPr lang="en-US" sz="1800" b="0" dirty="0" smtClean="0"/>
              <a:t>(</a:t>
            </a:r>
            <a:r>
              <a:rPr lang="en-US" sz="1800" b="0" i="1" dirty="0" smtClean="0"/>
              <a:t>s</a:t>
            </a:r>
            <a:r>
              <a:rPr lang="en-US" sz="1800" b="0" dirty="0" smtClean="0"/>
              <a:t>))</a:t>
            </a:r>
            <a:endParaRPr lang="en-US" sz="1800" b="0" dirty="0"/>
          </a:p>
        </p:txBody>
      </p:sp>
      <p:sp>
        <p:nvSpPr>
          <p:cNvPr id="23" name="TextBox 22"/>
          <p:cNvSpPr txBox="1"/>
          <p:nvPr/>
        </p:nvSpPr>
        <p:spPr>
          <a:xfrm>
            <a:off x="6172200" y="359306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err="1" smtClean="0"/>
              <a:t>Im</a:t>
            </a:r>
            <a:r>
              <a:rPr lang="en-US" sz="1800" b="0" dirty="0" smtClean="0"/>
              <a:t>(</a:t>
            </a:r>
            <a:r>
              <a:rPr lang="en-US" sz="1800" b="0" i="1" dirty="0" smtClean="0"/>
              <a:t>L</a:t>
            </a:r>
            <a:r>
              <a:rPr lang="en-US" sz="1800" b="0" dirty="0" smtClean="0"/>
              <a:t>(</a:t>
            </a:r>
            <a:r>
              <a:rPr lang="en-US" sz="1800" b="0" i="1" dirty="0" smtClean="0"/>
              <a:t>s</a:t>
            </a:r>
            <a:r>
              <a:rPr lang="en-US" sz="1800" b="0" dirty="0" smtClean="0"/>
              <a:t>))</a:t>
            </a:r>
            <a:endParaRPr lang="en-US" sz="1800" b="0" dirty="0"/>
          </a:p>
        </p:txBody>
      </p:sp>
      <p:sp>
        <p:nvSpPr>
          <p:cNvPr id="24" name="TextBox 23"/>
          <p:cNvSpPr txBox="1"/>
          <p:nvPr/>
        </p:nvSpPr>
        <p:spPr>
          <a:xfrm>
            <a:off x="2202632" y="6096000"/>
            <a:ext cx="4121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Note: plots have different scales</a:t>
            </a:r>
            <a:endParaRPr lang="en-US" sz="2000" b="0" dirty="0">
              <a:latin typeface="+mn-lt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6636568" y="3964808"/>
            <a:ext cx="138064" cy="121359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7862936" y="5067132"/>
            <a:ext cx="138064" cy="121359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6636568" y="6203241"/>
            <a:ext cx="138064" cy="121359"/>
          </a:xfrm>
          <a:prstGeom prst="ellipse">
            <a:avLst/>
          </a:prstGeom>
          <a:solidFill>
            <a:srgbClr val="7518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124363"/>
              </p:ext>
            </p:extLst>
          </p:nvPr>
        </p:nvGraphicFramePr>
        <p:xfrm>
          <a:off x="6829425" y="3960813"/>
          <a:ext cx="790575" cy="276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571320" imgH="203040" progId="Equation.3">
                  <p:embed/>
                </p:oleObj>
              </mc:Choice>
              <mc:Fallback>
                <p:oleObj name="Equation" r:id="rId7" imgW="571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5" y="3960813"/>
                        <a:ext cx="790575" cy="276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645720"/>
              </p:ext>
            </p:extLst>
          </p:nvPr>
        </p:nvGraphicFramePr>
        <p:xfrm>
          <a:off x="8024813" y="5165725"/>
          <a:ext cx="6858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495000" imgH="203040" progId="Equation.3">
                  <p:embed/>
                </p:oleObj>
              </mc:Choice>
              <mc:Fallback>
                <p:oleObj name="Equation" r:id="rId9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4813" y="5165725"/>
                        <a:ext cx="6858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786860"/>
              </p:ext>
            </p:extLst>
          </p:nvPr>
        </p:nvGraphicFramePr>
        <p:xfrm>
          <a:off x="6789738" y="6219825"/>
          <a:ext cx="982662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711000" imgH="203040" progId="Equation.3">
                  <p:embed/>
                </p:oleObj>
              </mc:Choice>
              <mc:Fallback>
                <p:oleObj name="Equation" r:id="rId11" imgW="711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9738" y="6219825"/>
                        <a:ext cx="982662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461556"/>
              </p:ext>
            </p:extLst>
          </p:nvPr>
        </p:nvGraphicFramePr>
        <p:xfrm>
          <a:off x="1620837" y="4968422"/>
          <a:ext cx="28416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126720" imgH="126720" progId="Equation.3">
                  <p:embed/>
                </p:oleObj>
              </mc:Choice>
              <mc:Fallback>
                <p:oleObj name="Equation" r:id="rId13" imgW="126720" imgH="126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7" y="4968422"/>
                        <a:ext cx="28416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179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4" grpId="0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6462</TotalTime>
  <Pages>21</Pages>
  <Words>130</Words>
  <Application>Microsoft Office PowerPoint</Application>
  <PresentationFormat>On-screen Show (4:3)</PresentationFormat>
  <Paragraphs>21</Paragraphs>
  <Slides>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1_CSM</vt:lpstr>
      <vt:lpstr>Microsoft Equation 3.0</vt:lpstr>
      <vt:lpstr>Equation</vt:lpstr>
      <vt:lpstr>Lecture 28: Nyquist Stability Theorem</vt:lpstr>
      <vt:lpstr>Nyquist Example (Lecture 28 Supplement)</vt:lpstr>
      <vt:lpstr>Lecture 28 Supplement (Active Learning)</vt:lpstr>
      <vt:lpstr>What if L(s) has a pole on the imaginary axis?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198</cp:revision>
  <cp:lastPrinted>2011-01-12T15:38:30Z</cp:lastPrinted>
  <dcterms:created xsi:type="dcterms:W3CDTF">2004-08-03T22:49:26Z</dcterms:created>
  <dcterms:modified xsi:type="dcterms:W3CDTF">2017-11-12T17:55:08Z</dcterms:modified>
</cp:coreProperties>
</file>