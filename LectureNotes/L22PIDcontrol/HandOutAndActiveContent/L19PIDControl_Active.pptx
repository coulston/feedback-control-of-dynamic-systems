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5"/>
  </p:notesMasterIdLst>
  <p:handoutMasterIdLst>
    <p:handoutMasterId r:id="rId6"/>
  </p:handoutMasterIdLst>
  <p:sldIdLst>
    <p:sldId id="257" r:id="rId2"/>
    <p:sldId id="270" r:id="rId3"/>
    <p:sldId id="272" r:id="rId4"/>
  </p:sldIdLst>
  <p:sldSz cx="9144000" cy="6858000" type="screen4x3"/>
  <p:notesSz cx="9296400" cy="7010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866D6"/>
    <a:srgbClr val="7518E6"/>
    <a:srgbClr val="F707E0"/>
    <a:srgbClr val="EFFFFF"/>
    <a:srgbClr val="DDFFFF"/>
    <a:srgbClr val="008080"/>
    <a:srgbClr val="FF0000"/>
    <a:srgbClr val="9933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84" autoAdjust="0"/>
    <p:restoredTop sz="94704" autoAdjust="0"/>
  </p:normalViewPr>
  <p:slideViewPr>
    <p:cSldViewPr>
      <p:cViewPr varScale="1">
        <p:scale>
          <a:sx n="82" d="100"/>
          <a:sy n="82" d="100"/>
        </p:scale>
        <p:origin x="-1378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40644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41666" y="3330419"/>
            <a:ext cx="6813070" cy="3153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1" tIns="44918" rIns="91441" bIns="449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notes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08300" y="530225"/>
            <a:ext cx="3490913" cy="26193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96504" y="32012"/>
            <a:ext cx="3291929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l" defTabSz="923925"/>
            <a:r>
              <a:rPr lang="en-US" sz="1400" b="0"/>
              <a:t>Tyrone Vincent - tvincent@eecs.umich.edu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8808984" y="6667711"/>
            <a:ext cx="393058" cy="311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441" tIns="44918" rIns="91441" bIns="44918" anchor="ctr">
            <a:spAutoFit/>
          </a:bodyPr>
          <a:lstStyle/>
          <a:p>
            <a:pPr algn="r" defTabSz="923925"/>
            <a:fld id="{183E808D-F99F-4B9D-8352-195EAC193A89}" type="slidenum">
              <a:rPr lang="en-US" sz="1400" b="0"/>
              <a:pPr algn="r" defTabSz="923925"/>
              <a:t>‹#›</a:t>
            </a:fld>
            <a:endParaRPr lang="en-US" sz="1400" b="0"/>
          </a:p>
        </p:txBody>
      </p:sp>
    </p:spTree>
    <p:extLst>
      <p:ext uri="{BB962C8B-B14F-4D97-AF65-F5344CB8AC3E}">
        <p14:creationId xmlns:p14="http://schemas.microsoft.com/office/powerpoint/2010/main" val="304218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6713" y="530225"/>
            <a:ext cx="3492500" cy="2619375"/>
          </a:xfrm>
          <a:ln/>
        </p:spPr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676400"/>
          </a:xfrm>
        </p:spPr>
        <p:txBody>
          <a:bodyPr/>
          <a:lstStyle>
            <a:lvl1pPr algn="ctr">
              <a:defRPr sz="36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1802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38600"/>
            <a:ext cx="6400800" cy="16002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180228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30F1D48F-0C8B-4CD2-93D0-5232B7F405E7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80229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0230" name="Rectangle 6"/>
          <p:cNvSpPr>
            <a:spLocks noChangeArrowheads="1"/>
          </p:cNvSpPr>
          <p:nvPr/>
        </p:nvSpPr>
        <p:spPr bwMode="auto">
          <a:xfrm>
            <a:off x="0" y="3657600"/>
            <a:ext cx="82296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80232" name="Picture 8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5800" y="3124200"/>
            <a:ext cx="74771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0233" name="Text Box 9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EENG307: 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674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165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1148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18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25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8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7141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7328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128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3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7500" y="-12700"/>
            <a:ext cx="2095500" cy="6184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-12700"/>
            <a:ext cx="6134100" cy="61849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520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2700"/>
            <a:ext cx="7772400" cy="6223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81000" y="1143000"/>
            <a:ext cx="4114800" cy="502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1430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733800"/>
            <a:ext cx="4114800" cy="2438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-12700"/>
            <a:ext cx="77724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143000"/>
            <a:ext cx="8382000" cy="502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21860" name="Rectangle 4"/>
          <p:cNvSpPr>
            <a:spLocks noChangeArrowheads="1"/>
          </p:cNvSpPr>
          <p:nvPr/>
        </p:nvSpPr>
        <p:spPr bwMode="auto">
          <a:xfrm>
            <a:off x="8534400" y="6570663"/>
            <a:ext cx="366713" cy="271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>
            <a:spAutoFit/>
          </a:bodyPr>
          <a:lstStyle/>
          <a:p>
            <a:pPr algn="l"/>
            <a:fld id="{E880E0BA-0E01-4C8C-AD44-E1CE19588DBC}" type="slidenum">
              <a:rPr lang="en-US" sz="1200" b="0">
                <a:latin typeface="Helvetica" pitchFamily="34" charset="0"/>
              </a:rPr>
              <a:pPr algn="l"/>
              <a:t>‹#›</a:t>
            </a:fld>
            <a:endParaRPr lang="en-US" sz="1200" b="0">
              <a:latin typeface="Helvetica" pitchFamily="34" charset="0"/>
            </a:endParaRPr>
          </a:p>
        </p:txBody>
      </p:sp>
      <p:sp>
        <p:nvSpPr>
          <p:cNvPr id="121861" name="Line 5"/>
          <p:cNvSpPr>
            <a:spLocks noChangeShapeType="1"/>
          </p:cNvSpPr>
          <p:nvPr/>
        </p:nvSpPr>
        <p:spPr bwMode="auto">
          <a:xfrm flipV="1">
            <a:off x="685800" y="6553200"/>
            <a:ext cx="8458200" cy="0"/>
          </a:xfrm>
          <a:prstGeom prst="line">
            <a:avLst/>
          </a:prstGeom>
          <a:noFill/>
          <a:ln w="12700">
            <a:solidFill>
              <a:srgbClr val="00808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1864" name="Rectangle 8"/>
          <p:cNvSpPr>
            <a:spLocks noChangeArrowheads="1"/>
          </p:cNvSpPr>
          <p:nvPr userDrawn="1"/>
        </p:nvSpPr>
        <p:spPr bwMode="auto">
          <a:xfrm>
            <a:off x="0" y="762000"/>
            <a:ext cx="8382000" cy="228600"/>
          </a:xfrm>
          <a:prstGeom prst="rect">
            <a:avLst/>
          </a:prstGeom>
          <a:gradFill rotWithShape="1">
            <a:gsLst>
              <a:gs pos="0">
                <a:srgbClr val="EFFFFF"/>
              </a:gs>
              <a:gs pos="100000">
                <a:srgbClr val="008080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sz="1400" dirty="0">
                <a:solidFill>
                  <a:schemeClr val="bg1"/>
                </a:solidFill>
                <a:latin typeface="Corbel" pitchFamily="34" charset="0"/>
              </a:rPr>
              <a:t>Colorado School of Mines</a:t>
            </a:r>
            <a:endParaRPr lang="en-US" dirty="0">
              <a:latin typeface="Corbel" pitchFamily="34" charset="0"/>
            </a:endParaRPr>
          </a:p>
        </p:txBody>
      </p:sp>
      <p:pic>
        <p:nvPicPr>
          <p:cNvPr id="121865" name="Picture 9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8200" y="381000"/>
            <a:ext cx="598488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1866" name="Text Box 10"/>
          <p:cNvSpPr txBox="1">
            <a:spLocks noChangeArrowheads="1"/>
          </p:cNvSpPr>
          <p:nvPr userDrawn="1"/>
        </p:nvSpPr>
        <p:spPr bwMode="auto">
          <a:xfrm>
            <a:off x="609600" y="6553200"/>
            <a:ext cx="52578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EENG307</a:t>
            </a:r>
            <a:r>
              <a:rPr lang="en-US" sz="1200" b="0" dirty="0">
                <a:solidFill>
                  <a:srgbClr val="008080"/>
                </a:solidFill>
                <a:latin typeface="Arial" charset="0"/>
              </a:rPr>
              <a:t>: </a:t>
            </a:r>
            <a:r>
              <a:rPr lang="en-US" sz="1200" b="0" dirty="0" smtClean="0">
                <a:solidFill>
                  <a:srgbClr val="008080"/>
                </a:solidFill>
                <a:latin typeface="Arial" charset="0"/>
              </a:rPr>
              <a:t>Introduction to Feedback Control Systems</a:t>
            </a:r>
            <a:endParaRPr lang="en-US" sz="1200" b="0" dirty="0">
              <a:solidFill>
                <a:srgbClr val="008080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100000"/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Times New Roman" pitchFamily="18" charset="0"/>
        <a:buChar char="◘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rgbClr val="008080"/>
        </a:buClr>
        <a:buSzPct val="70000"/>
        <a:buFont typeface="Arial" charset="0"/>
        <a:buChar char="○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700213"/>
            <a:ext cx="7772400" cy="1303337"/>
          </a:xfrm>
        </p:spPr>
        <p:txBody>
          <a:bodyPr/>
          <a:lstStyle/>
          <a:p>
            <a:r>
              <a:rPr lang="en-US" sz="3200" dirty="0" smtClean="0">
                <a:solidFill>
                  <a:schemeClr val="tx1"/>
                </a:solidFill>
              </a:rPr>
              <a:t>Lecture 19: PID Control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Introduction to Feedback Control Systems</a:t>
            </a:r>
          </a:p>
          <a:p>
            <a:r>
              <a:rPr lang="en-US" dirty="0" smtClean="0"/>
              <a:t>Section D (Johnson)</a:t>
            </a:r>
          </a:p>
          <a:p>
            <a:r>
              <a:rPr lang="en-US" dirty="0" smtClean="0"/>
              <a:t>Fall 2017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Proportional control of a water tank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48104"/>
            <a:ext cx="7620000" cy="2761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4038600"/>
            <a:ext cx="7315200" cy="224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 rot="16200000">
            <a:off x="-263098" y="4766101"/>
            <a:ext cx="2286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mtClean="0">
                <a:latin typeface="+mn-lt"/>
              </a:rPr>
              <a:t>Symbolic representation</a:t>
            </a:r>
            <a:endParaRPr lang="en-US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613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Proportional control of a water tank (2)</a:t>
            </a:r>
            <a:endParaRPr lang="en-US" dirty="0"/>
          </a:p>
        </p:txBody>
      </p:sp>
      <p:grpSp>
        <p:nvGrpSpPr>
          <p:cNvPr id="6163" name="Group 6162"/>
          <p:cNvGrpSpPr/>
          <p:nvPr/>
        </p:nvGrpSpPr>
        <p:grpSpPr>
          <a:xfrm>
            <a:off x="7486775" y="2597943"/>
            <a:ext cx="971425" cy="1516857"/>
            <a:chOff x="7486775" y="2597943"/>
            <a:chExt cx="971425" cy="1516857"/>
          </a:xfrm>
        </p:grpSpPr>
        <p:cxnSp>
          <p:nvCxnSpPr>
            <p:cNvPr id="15" name="Straight Arrow Connector 14"/>
            <p:cNvCxnSpPr/>
            <p:nvPr/>
          </p:nvCxnSpPr>
          <p:spPr bwMode="auto">
            <a:xfrm>
              <a:off x="8458200" y="2597943"/>
              <a:ext cx="0" cy="1516857"/>
            </a:xfrm>
            <a:prstGeom prst="straightConnector1">
              <a:avLst/>
            </a:prstGeom>
            <a:ln>
              <a:headEnd type="none" w="med" len="med"/>
              <a:tailEnd type="none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endCxn id="22" idx="3"/>
            </p:cNvCxnSpPr>
            <p:nvPr/>
          </p:nvCxnSpPr>
          <p:spPr bwMode="auto">
            <a:xfrm flipH="1">
              <a:off x="7486775" y="4114800"/>
              <a:ext cx="971425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62" name="Group 6161"/>
          <p:cNvGrpSpPr/>
          <p:nvPr/>
        </p:nvGrpSpPr>
        <p:grpSpPr>
          <a:xfrm>
            <a:off x="6398186" y="3619500"/>
            <a:ext cx="1145614" cy="1613475"/>
            <a:chOff x="6398186" y="3619500"/>
            <a:chExt cx="1145614" cy="1613475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506386" y="36195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98186" y="4648200"/>
              <a:ext cx="114561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Sensor (physical)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6146" name="Picture 2" descr="Fuel/Water Level sensor S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6899" y="3733800"/>
              <a:ext cx="839194" cy="8391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61" name="Group 6160"/>
          <p:cNvGrpSpPr/>
          <p:nvPr/>
        </p:nvGrpSpPr>
        <p:grpSpPr>
          <a:xfrm>
            <a:off x="4561790" y="3505200"/>
            <a:ext cx="1944596" cy="615553"/>
            <a:chOff x="4561790" y="3505200"/>
            <a:chExt cx="1944596" cy="615553"/>
          </a:xfrm>
        </p:grpSpPr>
        <p:cxnSp>
          <p:nvCxnSpPr>
            <p:cNvPr id="26" name="Straight Arrow Connector 25"/>
            <p:cNvCxnSpPr/>
            <p:nvPr/>
          </p:nvCxnSpPr>
          <p:spPr bwMode="auto">
            <a:xfrm flipH="1">
              <a:off x="4561790" y="4114800"/>
              <a:ext cx="1944596" cy="0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5029200" y="3505200"/>
              <a:ext cx="124858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v</a:t>
              </a:r>
              <a:r>
                <a:rPr lang="en-US" sz="1800" b="0" i="1" baseline="-2500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(physical)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6156" name="Group 6155"/>
          <p:cNvGrpSpPr/>
          <p:nvPr/>
        </p:nvGrpSpPr>
        <p:grpSpPr>
          <a:xfrm>
            <a:off x="1941230" y="1472625"/>
            <a:ext cx="1259170" cy="1575375"/>
            <a:chOff x="1941230" y="1472625"/>
            <a:chExt cx="1259170" cy="1575375"/>
          </a:xfrm>
        </p:grpSpPr>
        <p:sp>
          <p:nvSpPr>
            <p:cNvPr id="55" name="Rectangle 54"/>
            <p:cNvSpPr/>
            <p:nvPr/>
          </p:nvSpPr>
          <p:spPr bwMode="auto">
            <a:xfrm>
              <a:off x="2057401" y="20574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2057400" y="2362200"/>
              <a:ext cx="99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cs typeface="Times New Roman" panose="02020603050405020304" pitchFamily="18" charset="0"/>
                </a:rPr>
                <a:t>C</a:t>
              </a:r>
              <a:r>
                <a:rPr lang="en-US" sz="1800" b="0" dirty="0" smtClean="0">
                  <a:cs typeface="Times New Roman" panose="02020603050405020304" pitchFamily="18" charset="0"/>
                </a:rPr>
                <a:t>(</a:t>
              </a:r>
              <a:r>
                <a:rPr lang="en-US" sz="1800" b="0" i="1" dirty="0" smtClean="0">
                  <a:cs typeface="Times New Roman" panose="02020603050405020304" pitchFamily="18" charset="0"/>
                </a:rPr>
                <a:t>s</a:t>
              </a:r>
              <a:r>
                <a:rPr lang="en-US" sz="1800" b="0" dirty="0" smtClean="0">
                  <a:cs typeface="Times New Roman" panose="02020603050405020304" pitchFamily="18" charset="0"/>
                </a:rPr>
                <a:t>)</a:t>
              </a:r>
              <a:endParaRPr lang="en-US" sz="1600" b="0" dirty="0"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1941230" y="1472625"/>
              <a:ext cx="125917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Controller (digital)</a:t>
              </a:r>
              <a:endParaRPr lang="en-US" sz="1600" b="0" dirty="0">
                <a:latin typeface="+mn-lt"/>
              </a:endParaRPr>
            </a:p>
          </p:txBody>
        </p:sp>
      </p:grpSp>
      <p:grpSp>
        <p:nvGrpSpPr>
          <p:cNvPr id="6155" name="Group 6154"/>
          <p:cNvGrpSpPr/>
          <p:nvPr/>
        </p:nvGrpSpPr>
        <p:grpSpPr>
          <a:xfrm>
            <a:off x="2951007" y="992071"/>
            <a:ext cx="1066800" cy="1598729"/>
            <a:chOff x="2951007" y="992071"/>
            <a:chExt cx="1066800" cy="1598729"/>
          </a:xfrm>
        </p:grpSpPr>
        <p:cxnSp>
          <p:nvCxnSpPr>
            <p:cNvPr id="79" name="Straight Arrow Connector 78"/>
            <p:cNvCxnSpPr/>
            <p:nvPr/>
          </p:nvCxnSpPr>
          <p:spPr bwMode="auto">
            <a:xfrm>
              <a:off x="3037790" y="2590799"/>
              <a:ext cx="543611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2951007" y="992071"/>
              <a:ext cx="10668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/>
              </a:r>
              <a:br>
                <a:rPr lang="en-US" sz="1600" b="0" dirty="0" smtClean="0">
                  <a:solidFill>
                    <a:srgbClr val="0070C0"/>
                  </a:solidFill>
                  <a:latin typeface="+mn-lt"/>
                </a:rPr>
              </a:b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(digital)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  <p:cxnSp>
          <p:nvCxnSpPr>
            <p:cNvPr id="89" name="Curved Connector 88"/>
            <p:cNvCxnSpPr>
              <a:stCxn id="88" idx="2"/>
            </p:cNvCxnSpPr>
            <p:nvPr/>
          </p:nvCxnSpPr>
          <p:spPr bwMode="auto">
            <a:xfrm rot="5400000">
              <a:off x="2981613" y="1935606"/>
              <a:ext cx="830776" cy="174812"/>
            </a:xfrm>
            <a:prstGeom prst="curvedConnector3">
              <a:avLst/>
            </a:prstGeom>
            <a:ln>
              <a:prstDash val="sysDash"/>
              <a:headEnd type="none" w="med" len="med"/>
              <a:tailEnd type="arrow"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153" name="Group 6152"/>
          <p:cNvGrpSpPr/>
          <p:nvPr/>
        </p:nvGrpSpPr>
        <p:grpSpPr>
          <a:xfrm>
            <a:off x="4114800" y="990600"/>
            <a:ext cx="1066800" cy="1589678"/>
            <a:chOff x="4114800" y="990600"/>
            <a:chExt cx="1066800" cy="1589678"/>
          </a:xfrm>
        </p:grpSpPr>
        <p:sp>
          <p:nvSpPr>
            <p:cNvPr id="73" name="TextBox 72"/>
            <p:cNvSpPr txBox="1"/>
            <p:nvPr/>
          </p:nvSpPr>
          <p:spPr>
            <a:xfrm>
              <a:off x="4114800" y="990600"/>
              <a:ext cx="1066800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v</a:t>
              </a:r>
              <a:r>
                <a:rPr lang="en-US" sz="1800" b="0" i="1" baseline="-2500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u</a:t>
              </a:r>
              <a:r>
                <a:rPr lang="en-US" sz="1800" b="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 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/>
              </a:r>
              <a:br>
                <a:rPr lang="en-US" sz="1600" b="0" dirty="0" smtClean="0">
                  <a:solidFill>
                    <a:srgbClr val="0070C0"/>
                  </a:solidFill>
                  <a:latin typeface="+mn-lt"/>
                </a:rPr>
              </a:b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(physical)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  <p:cxnSp>
          <p:nvCxnSpPr>
            <p:cNvPr id="82" name="Straight Arrow Connector 81"/>
            <p:cNvCxnSpPr/>
            <p:nvPr/>
          </p:nvCxnSpPr>
          <p:spPr bwMode="auto">
            <a:xfrm>
              <a:off x="4561790" y="2580277"/>
              <a:ext cx="543611" cy="1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Curved Connector 90"/>
            <p:cNvCxnSpPr/>
            <p:nvPr/>
          </p:nvCxnSpPr>
          <p:spPr bwMode="auto">
            <a:xfrm rot="16200000" flipH="1">
              <a:off x="4320218" y="1969994"/>
              <a:ext cx="830776" cy="174812"/>
            </a:xfrm>
            <a:prstGeom prst="curvedConnector3">
              <a:avLst/>
            </a:prstGeom>
            <a:ln>
              <a:prstDash val="sysDash"/>
              <a:headEnd type="none" w="med" len="med"/>
              <a:tailEnd type="arrow"/>
            </a:ln>
            <a:extLst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6165" name="Group 6164"/>
          <p:cNvGrpSpPr/>
          <p:nvPr/>
        </p:nvGrpSpPr>
        <p:grpSpPr>
          <a:xfrm>
            <a:off x="5638800" y="914400"/>
            <a:ext cx="3352800" cy="2376486"/>
            <a:chOff x="5638800" y="914400"/>
            <a:chExt cx="3352800" cy="2376486"/>
          </a:xfrm>
        </p:grpSpPr>
        <p:grpSp>
          <p:nvGrpSpPr>
            <p:cNvPr id="6149" name="Group 6148"/>
            <p:cNvGrpSpPr/>
            <p:nvPr/>
          </p:nvGrpSpPr>
          <p:grpSpPr>
            <a:xfrm>
              <a:off x="6629400" y="1295400"/>
              <a:ext cx="1371600" cy="1995486"/>
              <a:chOff x="6629400" y="1295400"/>
              <a:chExt cx="1371600" cy="1995486"/>
            </a:xfrm>
          </p:grpSpPr>
          <p:sp>
            <p:nvSpPr>
              <p:cNvPr id="4" name="Rectangle 3"/>
              <p:cNvSpPr/>
              <p:nvPr/>
            </p:nvSpPr>
            <p:spPr bwMode="auto">
              <a:xfrm>
                <a:off x="6629400" y="1905000"/>
                <a:ext cx="1371600" cy="1385886"/>
              </a:xfrm>
              <a:prstGeom prst="rect">
                <a:avLst/>
              </a:prstGeom>
              <a:ln>
                <a:headEnd type="none" w="med" len="med"/>
                <a:tailEnd type="none" w="med" len="med"/>
              </a:ln>
              <a:extLst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</a:endParaRPr>
              </a:p>
            </p:txBody>
          </p:sp>
          <p:pic>
            <p:nvPicPr>
              <p:cNvPr id="3" name="Picture 2"/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6059" t="19827" r="14529" b="15580"/>
              <a:stretch/>
            </p:blipFill>
            <p:spPr bwMode="auto">
              <a:xfrm>
                <a:off x="6705600" y="2235823"/>
                <a:ext cx="1219200" cy="7242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" name="TextBox 4"/>
              <p:cNvSpPr txBox="1"/>
              <p:nvPr/>
            </p:nvSpPr>
            <p:spPr>
              <a:xfrm>
                <a:off x="6629400" y="1295400"/>
                <a:ext cx="13716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dirty="0" smtClean="0">
                    <a:latin typeface="+mn-lt"/>
                  </a:rPr>
                  <a:t>Plant (physical)</a:t>
                </a:r>
                <a:endParaRPr lang="en-US" sz="1600" b="0" dirty="0">
                  <a:latin typeface="+mn-lt"/>
                </a:endParaRPr>
              </a:p>
            </p:txBody>
          </p:sp>
        </p:grpSp>
        <p:grpSp>
          <p:nvGrpSpPr>
            <p:cNvPr id="6147" name="Group 6146"/>
            <p:cNvGrpSpPr/>
            <p:nvPr/>
          </p:nvGrpSpPr>
          <p:grpSpPr>
            <a:xfrm>
              <a:off x="7924800" y="1981200"/>
              <a:ext cx="1066800" cy="616743"/>
              <a:chOff x="7924800" y="1981200"/>
              <a:chExt cx="1066800" cy="616743"/>
            </a:xfrm>
          </p:grpSpPr>
          <p:cxnSp>
            <p:nvCxnSpPr>
              <p:cNvPr id="7" name="Straight Arrow Connector 6"/>
              <p:cNvCxnSpPr/>
              <p:nvPr/>
            </p:nvCxnSpPr>
            <p:spPr bwMode="auto">
              <a:xfrm>
                <a:off x="8001000" y="2597943"/>
                <a:ext cx="990600" cy="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>
              <a:xfrm>
                <a:off x="7924800" y="1981200"/>
                <a:ext cx="10668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0" i="1" dirty="0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 </a:t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(physical)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</p:grpSp>
        <p:grpSp>
          <p:nvGrpSpPr>
            <p:cNvPr id="6151" name="Group 6150"/>
            <p:cNvGrpSpPr/>
            <p:nvPr/>
          </p:nvGrpSpPr>
          <p:grpSpPr>
            <a:xfrm>
              <a:off x="5638800" y="914400"/>
              <a:ext cx="1291912" cy="1676400"/>
              <a:chOff x="5638800" y="914400"/>
              <a:chExt cx="1291912" cy="1676400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638800" y="914400"/>
                <a:ext cx="1291912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1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q</a:t>
                </a:r>
                <a:r>
                  <a:rPr lang="en-US" sz="1800" b="0" i="1" baseline="-25000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in</a:t>
                </a:r>
                <a:r>
                  <a:rPr lang="en-US" sz="1800" b="0" dirty="0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/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(physical)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  <p:cxnSp>
            <p:nvCxnSpPr>
              <p:cNvPr id="83" name="Straight Arrow Connector 82"/>
              <p:cNvCxnSpPr/>
              <p:nvPr/>
            </p:nvCxnSpPr>
            <p:spPr bwMode="auto">
              <a:xfrm>
                <a:off x="6085789" y="2590799"/>
                <a:ext cx="543611" cy="1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Curved Connector 91"/>
              <p:cNvCxnSpPr/>
              <p:nvPr/>
            </p:nvCxnSpPr>
            <p:spPr bwMode="auto">
              <a:xfrm rot="16200000" flipH="1">
                <a:off x="5895392" y="1915769"/>
                <a:ext cx="830776" cy="174812"/>
              </a:xfrm>
              <a:prstGeom prst="curvedConnector3">
                <a:avLst/>
              </a:prstGeom>
              <a:ln>
                <a:prstDash val="sysDash"/>
                <a:headEnd type="none" w="med" len="med"/>
                <a:tailEnd type="arrow"/>
              </a:ln>
              <a:extLst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164" name="Group 6163"/>
          <p:cNvGrpSpPr/>
          <p:nvPr/>
        </p:nvGrpSpPr>
        <p:grpSpPr>
          <a:xfrm>
            <a:off x="152400" y="5486400"/>
            <a:ext cx="8839200" cy="685800"/>
            <a:chOff x="152400" y="5486400"/>
            <a:chExt cx="8839200" cy="685800"/>
          </a:xfrm>
        </p:grpSpPr>
        <p:sp>
          <p:nvSpPr>
            <p:cNvPr id="93" name="Right Arrow 92"/>
            <p:cNvSpPr/>
            <p:nvPr/>
          </p:nvSpPr>
          <p:spPr bwMode="auto">
            <a:xfrm>
              <a:off x="4191000" y="5486400"/>
              <a:ext cx="4800600" cy="685800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6" name="TextBox 95"/>
            <p:cNvSpPr txBox="1"/>
            <p:nvPr/>
          </p:nvSpPr>
          <p:spPr>
            <a:xfrm>
              <a:off x="5181600" y="5660023"/>
              <a:ext cx="2743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Physical systems</a:t>
              </a:r>
              <a:endParaRPr lang="en-US" sz="1600" b="0" dirty="0">
                <a:latin typeface="+mn-lt"/>
              </a:endParaRPr>
            </a:p>
          </p:txBody>
        </p:sp>
        <p:sp>
          <p:nvSpPr>
            <p:cNvPr id="97" name="Right Arrow 96"/>
            <p:cNvSpPr/>
            <p:nvPr/>
          </p:nvSpPr>
          <p:spPr bwMode="auto">
            <a:xfrm flipH="1">
              <a:off x="152400" y="5486400"/>
              <a:ext cx="3886200" cy="685800"/>
            </a:xfrm>
            <a:prstGeom prst="rightArrow">
              <a:avLst/>
            </a:prstGeom>
            <a:solidFill>
              <a:srgbClr val="993357"/>
            </a:solidFill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990599" y="5660023"/>
              <a:ext cx="27432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0" dirty="0" smtClean="0">
                  <a:latin typeface="+mn-lt"/>
                </a:rPr>
                <a:t>Computer-based systems</a:t>
              </a:r>
              <a:endParaRPr lang="en-US" sz="1600" b="0" dirty="0">
                <a:latin typeface="+mn-lt"/>
              </a:endParaRPr>
            </a:p>
          </p:txBody>
        </p:sp>
      </p:grpSp>
      <p:grpSp>
        <p:nvGrpSpPr>
          <p:cNvPr id="6152" name="Group 6151"/>
          <p:cNvGrpSpPr/>
          <p:nvPr/>
        </p:nvGrpSpPr>
        <p:grpSpPr>
          <a:xfrm>
            <a:off x="5100917" y="1540904"/>
            <a:ext cx="995083" cy="1507096"/>
            <a:chOff x="5100917" y="1540904"/>
            <a:chExt cx="995083" cy="1507096"/>
          </a:xfrm>
        </p:grpSpPr>
        <p:sp>
          <p:nvSpPr>
            <p:cNvPr id="40" name="Rectangle 39"/>
            <p:cNvSpPr/>
            <p:nvPr/>
          </p:nvSpPr>
          <p:spPr bwMode="auto">
            <a:xfrm>
              <a:off x="5115611" y="20574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100917" y="1540904"/>
              <a:ext cx="995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0" dirty="0" smtClean="0">
                  <a:latin typeface="+mn-lt"/>
                </a:rPr>
                <a:t>Valve (physical)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6148" name="Picture 4" descr="https://upload.wikimedia.org/wikipedia/commons/thumb/b/b2/Pl_control_valve.jpg/150px-Pl_control_valve.jpg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060"/>
            <a:stretch/>
          </p:blipFill>
          <p:spPr bwMode="auto">
            <a:xfrm>
              <a:off x="5234595" y="2130940"/>
              <a:ext cx="745734" cy="8445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60" name="Group 6159"/>
          <p:cNvGrpSpPr/>
          <p:nvPr/>
        </p:nvGrpSpPr>
        <p:grpSpPr>
          <a:xfrm>
            <a:off x="3566707" y="3632947"/>
            <a:ext cx="995083" cy="1569250"/>
            <a:chOff x="3566707" y="3632947"/>
            <a:chExt cx="995083" cy="1569250"/>
          </a:xfrm>
        </p:grpSpPr>
        <p:sp>
          <p:nvSpPr>
            <p:cNvPr id="29" name="Rectangle 28"/>
            <p:cNvSpPr/>
            <p:nvPr/>
          </p:nvSpPr>
          <p:spPr bwMode="auto">
            <a:xfrm>
              <a:off x="3581401" y="3632947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566707" y="4678977"/>
              <a:ext cx="995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0" dirty="0" smtClean="0">
                  <a:latin typeface="+mn-lt"/>
                </a:rPr>
                <a:t>A/D </a:t>
              </a:r>
              <a:br>
                <a:rPr lang="en-US" sz="1400" b="0" dirty="0" smtClean="0">
                  <a:latin typeface="+mn-lt"/>
                </a:rPr>
              </a:br>
              <a:r>
                <a:rPr lang="en-US" sz="1400" b="0" dirty="0" smtClean="0">
                  <a:latin typeface="+mn-lt"/>
                </a:rPr>
                <a:t>Converter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6150" name="Picture 6" descr="http://www.mouser.com/images/texasinstruments/lrg/TI_VQFN_32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46" t="20906" r="6753" b="19334"/>
            <a:stretch/>
          </p:blipFill>
          <p:spPr bwMode="auto">
            <a:xfrm>
              <a:off x="3667191" y="3810000"/>
              <a:ext cx="857862" cy="619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54" name="Group 6153"/>
          <p:cNvGrpSpPr/>
          <p:nvPr/>
        </p:nvGrpSpPr>
        <p:grpSpPr>
          <a:xfrm>
            <a:off x="3581400" y="1524000"/>
            <a:ext cx="995083" cy="1524000"/>
            <a:chOff x="3581400" y="1524000"/>
            <a:chExt cx="995083" cy="1524000"/>
          </a:xfrm>
        </p:grpSpPr>
        <p:sp>
          <p:nvSpPr>
            <p:cNvPr id="74" name="Rectangle 73"/>
            <p:cNvSpPr/>
            <p:nvPr/>
          </p:nvSpPr>
          <p:spPr bwMode="auto">
            <a:xfrm>
              <a:off x="3581401" y="2057400"/>
              <a:ext cx="980389" cy="990600"/>
            </a:xfrm>
            <a:prstGeom prst="rect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3581400" y="1524000"/>
              <a:ext cx="99508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0" dirty="0" smtClean="0">
                  <a:latin typeface="+mn-lt"/>
                </a:rPr>
                <a:t>D/A </a:t>
              </a:r>
              <a:br>
                <a:rPr lang="en-US" sz="1400" b="0" dirty="0" smtClean="0">
                  <a:latin typeface="+mn-lt"/>
                </a:rPr>
              </a:br>
              <a:r>
                <a:rPr lang="en-US" sz="1400" b="0" dirty="0" smtClean="0">
                  <a:latin typeface="+mn-lt"/>
                </a:rPr>
                <a:t>Converter</a:t>
              </a:r>
              <a:endParaRPr lang="en-US" sz="1600" b="0" dirty="0">
                <a:latin typeface="+mn-lt"/>
              </a:endParaRPr>
            </a:p>
          </p:txBody>
        </p:sp>
        <p:pic>
          <p:nvPicPr>
            <p:cNvPr id="101" name="Picture 6" descr="http://www.mouser.com/images/texasinstruments/lrg/TI_VQFN_32.jpg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546" t="20906" r="6753" b="19334"/>
            <a:stretch/>
          </p:blipFill>
          <p:spPr bwMode="auto">
            <a:xfrm>
              <a:off x="3650010" y="2258445"/>
              <a:ext cx="857862" cy="6198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6166" name="Group 6165"/>
          <p:cNvGrpSpPr/>
          <p:nvPr/>
        </p:nvGrpSpPr>
        <p:grpSpPr>
          <a:xfrm>
            <a:off x="1219200" y="2819401"/>
            <a:ext cx="2362201" cy="1308846"/>
            <a:chOff x="1219200" y="2819401"/>
            <a:chExt cx="2362201" cy="1308846"/>
          </a:xfrm>
        </p:grpSpPr>
        <p:cxnSp>
          <p:nvCxnSpPr>
            <p:cNvPr id="18" name="Straight Arrow Connector 17"/>
            <p:cNvCxnSpPr>
              <a:stCxn id="29" idx="1"/>
            </p:cNvCxnSpPr>
            <p:nvPr/>
          </p:nvCxnSpPr>
          <p:spPr bwMode="auto">
            <a:xfrm flipH="1">
              <a:off x="1219200" y="4128247"/>
              <a:ext cx="2362201" cy="0"/>
            </a:xfrm>
            <a:prstGeom prst="straightConnector1">
              <a:avLst/>
            </a:prstGeom>
            <a:ln>
              <a:headEnd type="none" w="med" len="med"/>
              <a:tailEnd type="none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 bwMode="auto">
            <a:xfrm flipV="1">
              <a:off x="1219200" y="2819401"/>
              <a:ext cx="0" cy="1308846"/>
            </a:xfrm>
            <a:prstGeom prst="straightConnector1">
              <a:avLst/>
            </a:prstGeom>
            <a:ln>
              <a:headEnd type="none" w="med" len="med"/>
              <a:tailEnd type="arrow"/>
            </a:ln>
            <a:extLst/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941230" y="3505200"/>
              <a:ext cx="1248586" cy="6155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b="0" i="1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h</a:t>
              </a:r>
              <a:r>
                <a:rPr lang="en-US" sz="1800" b="0" baseline="-25000" dirty="0" smtClean="0">
                  <a:solidFill>
                    <a:srgbClr val="0070C0"/>
                  </a:solidFill>
                  <a:cs typeface="Times New Roman" panose="02020603050405020304" pitchFamily="18" charset="0"/>
                </a:rPr>
                <a:t>0</a:t>
              </a: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/>
              </a:r>
              <a:br>
                <a:rPr lang="en-US" sz="1600" b="0" dirty="0" smtClean="0">
                  <a:solidFill>
                    <a:srgbClr val="0070C0"/>
                  </a:solidFill>
                  <a:latin typeface="+mn-lt"/>
                </a:rPr>
              </a:br>
              <a:r>
                <a:rPr lang="en-US" sz="1600" b="0" dirty="0" smtClean="0">
                  <a:solidFill>
                    <a:srgbClr val="0070C0"/>
                  </a:solidFill>
                  <a:latin typeface="+mn-lt"/>
                </a:rPr>
                <a:t>(digital bits)</a:t>
              </a:r>
              <a:endParaRPr lang="en-US" sz="1600" b="0" dirty="0">
                <a:solidFill>
                  <a:srgbClr val="0070C0"/>
                </a:solidFill>
                <a:latin typeface="+mn-lt"/>
              </a:endParaRPr>
            </a:p>
          </p:txBody>
        </p:sp>
      </p:grpSp>
      <p:grpSp>
        <p:nvGrpSpPr>
          <p:cNvPr id="6167" name="Group 6166"/>
          <p:cNvGrpSpPr/>
          <p:nvPr/>
        </p:nvGrpSpPr>
        <p:grpSpPr>
          <a:xfrm>
            <a:off x="76200" y="1700054"/>
            <a:ext cx="2028013" cy="1367585"/>
            <a:chOff x="76200" y="1700054"/>
            <a:chExt cx="2028013" cy="1367585"/>
          </a:xfrm>
        </p:grpSpPr>
        <p:grpSp>
          <p:nvGrpSpPr>
            <p:cNvPr id="6157" name="Group 6156"/>
            <p:cNvGrpSpPr/>
            <p:nvPr/>
          </p:nvGrpSpPr>
          <p:grpSpPr>
            <a:xfrm>
              <a:off x="1219199" y="1700054"/>
              <a:ext cx="885014" cy="890746"/>
              <a:chOff x="1219199" y="1700054"/>
              <a:chExt cx="885014" cy="890746"/>
            </a:xfrm>
          </p:grpSpPr>
          <p:cxnSp>
            <p:nvCxnSpPr>
              <p:cNvPr id="58" name="Straight Arrow Connector 57"/>
              <p:cNvCxnSpPr/>
              <p:nvPr/>
            </p:nvCxnSpPr>
            <p:spPr bwMode="auto">
              <a:xfrm>
                <a:off x="1447800" y="2590800"/>
                <a:ext cx="609600" cy="0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4" name="TextBox 63"/>
              <p:cNvSpPr txBox="1"/>
              <p:nvPr/>
            </p:nvSpPr>
            <p:spPr>
              <a:xfrm>
                <a:off x="1219199" y="1700054"/>
                <a:ext cx="88501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1" dirty="0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e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/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(digital </a:t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bits)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</p:grpSp>
        <p:sp>
          <p:nvSpPr>
            <p:cNvPr id="35" name="Oval 34"/>
            <p:cNvSpPr/>
            <p:nvPr/>
          </p:nvSpPr>
          <p:spPr bwMode="auto">
            <a:xfrm>
              <a:off x="990599" y="2357546"/>
              <a:ext cx="457200" cy="445463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  <a:ex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endParaRPr>
            </a:p>
          </p:txBody>
        </p:sp>
        <p:cxnSp>
          <p:nvCxnSpPr>
            <p:cNvPr id="6144" name="Straight Connector 6143"/>
            <p:cNvCxnSpPr/>
            <p:nvPr/>
          </p:nvCxnSpPr>
          <p:spPr bwMode="auto">
            <a:xfrm>
              <a:off x="927846" y="3067639"/>
              <a:ext cx="152400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6158" name="Group 6157"/>
            <p:cNvGrpSpPr/>
            <p:nvPr/>
          </p:nvGrpSpPr>
          <p:grpSpPr>
            <a:xfrm>
              <a:off x="76200" y="1752600"/>
              <a:ext cx="885014" cy="1066800"/>
              <a:chOff x="76200" y="1752600"/>
              <a:chExt cx="885014" cy="1066800"/>
            </a:xfrm>
          </p:grpSpPr>
          <p:cxnSp>
            <p:nvCxnSpPr>
              <p:cNvPr id="37" name="Straight Arrow Connector 36"/>
              <p:cNvCxnSpPr/>
              <p:nvPr/>
            </p:nvCxnSpPr>
            <p:spPr bwMode="auto">
              <a:xfrm>
                <a:off x="152400" y="2572699"/>
                <a:ext cx="808814" cy="1"/>
              </a:xfrm>
              <a:prstGeom prst="straightConnector1">
                <a:avLst/>
              </a:prstGeom>
              <a:ln>
                <a:headEnd type="none" w="med" len="med"/>
                <a:tailEnd type="arrow"/>
              </a:ln>
              <a:extLst/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/>
              <p:cNvSpPr txBox="1"/>
              <p:nvPr/>
            </p:nvSpPr>
            <p:spPr>
              <a:xfrm>
                <a:off x="76200" y="1752600"/>
                <a:ext cx="885014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b="0" i="1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h</a:t>
                </a:r>
                <a:r>
                  <a:rPr lang="en-US" sz="1800" b="0" i="1" baseline="-25000" dirty="0" err="1" smtClean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ref</a:t>
                </a: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/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(digital </a:t>
                </a:r>
                <a:b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</a:br>
                <a:r>
                  <a:rPr lang="en-US" sz="1600" b="0" dirty="0" smtClean="0">
                    <a:solidFill>
                      <a:srgbClr val="0070C0"/>
                    </a:solidFill>
                    <a:latin typeface="+mn-lt"/>
                  </a:rPr>
                  <a:t>bits)</a:t>
                </a:r>
                <a:endParaRPr lang="en-US" sz="1600" b="0" dirty="0">
                  <a:solidFill>
                    <a:srgbClr val="0070C0"/>
                  </a:solidFill>
                  <a:latin typeface="+mn-lt"/>
                </a:endParaRPr>
              </a:p>
            </p:txBody>
          </p:sp>
          <p:cxnSp>
            <p:nvCxnSpPr>
              <p:cNvPr id="105" name="Straight Connector 104"/>
              <p:cNvCxnSpPr/>
              <p:nvPr/>
            </p:nvCxnSpPr>
            <p:spPr bwMode="auto">
              <a:xfrm>
                <a:off x="609600" y="2742206"/>
                <a:ext cx="1524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106" name="Straight Connector 105"/>
              <p:cNvCxnSpPr/>
              <p:nvPr/>
            </p:nvCxnSpPr>
            <p:spPr bwMode="auto">
              <a:xfrm rot="5400000">
                <a:off x="609600" y="2743200"/>
                <a:ext cx="152400" cy="0"/>
              </a:xfrm>
              <a:prstGeom prst="line">
                <a:avLst/>
              </a:prstGeom>
              <a:solidFill>
                <a:schemeClr val="accent1"/>
              </a:solidFill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sp>
        <p:nvSpPr>
          <p:cNvPr id="6" name="Oval 5"/>
          <p:cNvSpPr/>
          <p:nvPr/>
        </p:nvSpPr>
        <p:spPr bwMode="auto">
          <a:xfrm>
            <a:off x="-76200" y="914400"/>
            <a:ext cx="4584072" cy="457200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  <a:ex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8707" y="4267200"/>
            <a:ext cx="26816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FF0000"/>
                </a:solidFill>
                <a:latin typeface="+mn-lt"/>
              </a:rPr>
              <a:t>Microcontroller implementation: see Lecture 19 Appendix</a:t>
            </a:r>
            <a:endParaRPr lang="en-US" sz="2000" dirty="0">
              <a:solidFill>
                <a:srgbClr val="FF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4773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SM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1_CS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1_CS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S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S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 Notes</Template>
  <TotalTime>6507</TotalTime>
  <Pages>21</Pages>
  <Words>76</Words>
  <Application>Microsoft Office PowerPoint</Application>
  <PresentationFormat>On-screen Show (4:3)</PresentationFormat>
  <Paragraphs>25</Paragraphs>
  <Slides>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1_CSM</vt:lpstr>
      <vt:lpstr>Lecture 19: PID Control</vt:lpstr>
      <vt:lpstr>Proportional control of a water tank</vt:lpstr>
      <vt:lpstr>Proportional control of a water tank (2)</vt:lpstr>
    </vt:vector>
  </TitlesOfParts>
  <Company>Colorado School of Mines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EGGN 407 Introduction to Feedback Control</dc:title>
  <cp:lastModifiedBy>Kathryn Johnson</cp:lastModifiedBy>
  <cp:revision>210</cp:revision>
  <cp:lastPrinted>2011-01-12T15:38:30Z</cp:lastPrinted>
  <dcterms:created xsi:type="dcterms:W3CDTF">2004-08-03T22:49:26Z</dcterms:created>
  <dcterms:modified xsi:type="dcterms:W3CDTF">2017-10-12T02:35:30Z</dcterms:modified>
</cp:coreProperties>
</file>