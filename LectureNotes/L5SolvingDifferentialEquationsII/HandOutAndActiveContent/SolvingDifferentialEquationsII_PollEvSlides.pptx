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7"/>
  </p:notesMasterIdLst>
  <p:handoutMasterIdLst>
    <p:handoutMasterId r:id="rId8"/>
  </p:handoutMasterIdLst>
  <p:sldIdLst>
    <p:sldId id="294" r:id="rId2"/>
    <p:sldId id="271" r:id="rId3"/>
    <p:sldId id="272" r:id="rId4"/>
    <p:sldId id="273" r:id="rId5"/>
    <p:sldId id="274" r:id="rId6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784" autoAdjust="0"/>
    <p:restoredTop sz="94704" autoAdjust="0"/>
  </p:normalViewPr>
  <p:slideViewPr>
    <p:cSldViewPr>
      <p:cViewPr varScale="1">
        <p:scale>
          <a:sx n="115" d="100"/>
          <a:sy n="115" d="100"/>
        </p:scale>
        <p:origin x="172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4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35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oleObject" Target="../embeddings/oleObject13.bin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image" Target="../media/image18.wmf"/><Relationship Id="rId5" Type="http://schemas.openxmlformats.org/officeDocument/2006/relationships/oleObject" Target="../embeddings/oleObject14.bin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15.wmf"/><Relationship Id="rId9" Type="http://schemas.openxmlformats.org/officeDocument/2006/relationships/image" Target="../media/image1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71B1B-81F3-48FA-89E6-85733DBB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 everywhere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3C38D4-6D52-45D9-97FC-6EC7C560B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PollEv.com/kathrynjohns083</a:t>
            </a:r>
          </a:p>
        </p:txBody>
      </p:sp>
    </p:spTree>
    <p:extLst>
      <p:ext uri="{BB962C8B-B14F-4D97-AF65-F5344CB8AC3E}">
        <p14:creationId xmlns:p14="http://schemas.microsoft.com/office/powerpoint/2010/main" val="7312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 Everywhere Exercise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990600"/>
          </a:xfrm>
        </p:spPr>
        <p:txBody>
          <a:bodyPr/>
          <a:lstStyle/>
          <a:p>
            <a:r>
              <a:rPr lang="en-US" dirty="0"/>
              <a:t>What is the Laplace transform of the following differential equation with the given initial conditions?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048000"/>
            <a:ext cx="7924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A)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B)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C)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D) None of the above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073150" y="3276600"/>
          <a:ext cx="40322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Equation" r:id="rId4" imgW="1942920" imgH="393480" progId="Equation.3">
                  <p:embed/>
                </p:oleObj>
              </mc:Choice>
              <mc:Fallback>
                <p:oleObj name="Equation" r:id="rId4" imgW="1942920" imgH="39348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3276600"/>
                        <a:ext cx="40322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1676400" y="1905000"/>
          <a:ext cx="56388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Equation" r:id="rId6" imgW="2717640" imgH="393480" progId="Equation.3">
                  <p:embed/>
                </p:oleObj>
              </mc:Choice>
              <mc:Fallback>
                <p:oleObj name="Equation" r:id="rId6" imgW="2717640" imgH="39348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905000"/>
                        <a:ext cx="56388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1093788" y="4191000"/>
          <a:ext cx="41640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Equation" r:id="rId8" imgW="2006280" imgH="393480" progId="Equation.3">
                  <p:embed/>
                </p:oleObj>
              </mc:Choice>
              <mc:Fallback>
                <p:oleObj name="Equation" r:id="rId8" imgW="2006280" imgH="39348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4191000"/>
                        <a:ext cx="416401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1123950" y="5121275"/>
          <a:ext cx="26098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Equation" r:id="rId10" imgW="1257120" imgH="393480" progId="Equation.3">
                  <p:embed/>
                </p:oleObj>
              </mc:Choice>
              <mc:Fallback>
                <p:oleObj name="Equation" r:id="rId10" imgW="1257120" imgH="39348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5121275"/>
                        <a:ext cx="26098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078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 Everywhere Exercise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1981200"/>
          </a:xfrm>
        </p:spPr>
        <p:txBody>
          <a:bodyPr>
            <a:normAutofit/>
          </a:bodyPr>
          <a:lstStyle/>
          <a:p>
            <a:r>
              <a:rPr lang="en-US" dirty="0"/>
              <a:t>If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which of the following is the appropriate partial fraction expansion for use in solving the differential equation?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048000"/>
            <a:ext cx="7924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A)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B)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C)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D) None of the above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143000" y="3236913"/>
          <a:ext cx="268763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4" name="Equation" r:id="rId3" imgW="1295280" imgH="431640" progId="Equation.3">
                  <p:embed/>
                </p:oleObj>
              </mc:Choice>
              <mc:Fallback>
                <p:oleObj name="Equation" r:id="rId3" imgW="1295280" imgH="43164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36913"/>
                        <a:ext cx="268763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3349625" y="1371600"/>
          <a:ext cx="22923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Equation" r:id="rId5" imgW="1104840" imgH="431640" progId="Equation.3">
                  <p:embed/>
                </p:oleObj>
              </mc:Choice>
              <mc:Fallback>
                <p:oleObj name="Equation" r:id="rId5" imgW="1104840" imgH="43164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9625" y="1371600"/>
                        <a:ext cx="22923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1163638" y="4127500"/>
          <a:ext cx="36369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" name="Equation" r:id="rId7" imgW="1752480" imgH="431640" progId="Equation.3">
                  <p:embed/>
                </p:oleObj>
              </mc:Choice>
              <mc:Fallback>
                <p:oleObj name="Equation" r:id="rId7" imgW="1752480" imgH="43164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3638" y="4127500"/>
                        <a:ext cx="363696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1143000" y="5118100"/>
          <a:ext cx="268922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7" name="Equation" r:id="rId9" imgW="1295280" imgH="431640" progId="Equation.3">
                  <p:embed/>
                </p:oleObj>
              </mc:Choice>
              <mc:Fallback>
                <p:oleObj name="Equation" r:id="rId9" imgW="1295280" imgH="43164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118100"/>
                        <a:ext cx="2689225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7182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 Everywhere Exercise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8382000" cy="1981200"/>
          </a:xfrm>
        </p:spPr>
        <p:txBody>
          <a:bodyPr>
            <a:normAutofit/>
          </a:bodyPr>
          <a:lstStyle/>
          <a:p>
            <a:r>
              <a:rPr lang="en-US" dirty="0"/>
              <a:t>If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solve for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048000"/>
            <a:ext cx="7924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A)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B)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C)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D) None of the above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1066800" y="3502025"/>
          <a:ext cx="738187" cy="36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Equation" r:id="rId3" imgW="355320" imgH="177480" progId="Equation.3">
                  <p:embed/>
                </p:oleObj>
              </mc:Choice>
              <mc:Fallback>
                <p:oleObj name="Equation" r:id="rId3" imgW="355320" imgH="17748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502025"/>
                        <a:ext cx="738187" cy="36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1066800" y="4392613"/>
          <a:ext cx="790575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Equation" r:id="rId5" imgW="380880" imgH="177480" progId="Equation.3">
                  <p:embed/>
                </p:oleObj>
              </mc:Choice>
              <mc:Fallback>
                <p:oleObj name="Equation" r:id="rId5" imgW="380880" imgH="17748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392613"/>
                        <a:ext cx="790575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1081088" y="5334000"/>
          <a:ext cx="976312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Equation" r:id="rId7" imgW="469800" imgH="177480" progId="Equation.3">
                  <p:embed/>
                </p:oleObj>
              </mc:Choice>
              <mc:Fallback>
                <p:oleObj name="Equation" r:id="rId7" imgW="469800" imgH="177480" progId="Equation.3">
                  <p:embed/>
                  <p:pic>
                    <p:nvPicPr>
                      <p:cNvPr id="1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1088" y="5334000"/>
                        <a:ext cx="976312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2687638" y="1371600"/>
          <a:ext cx="363696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Equation" r:id="rId9" imgW="1752480" imgH="431640" progId="Equation.3">
                  <p:embed/>
                </p:oleObj>
              </mc:Choice>
              <mc:Fallback>
                <p:oleObj name="Equation" r:id="rId9" imgW="1752480" imgH="43164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7638" y="1371600"/>
                        <a:ext cx="3636962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6761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 Everywhere Exercise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43000"/>
            <a:ext cx="4629150" cy="19812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Since 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r>
              <a:rPr lang="en-US" dirty="0"/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-1</a:t>
            </a:r>
            <a:r>
              <a:rPr lang="en-US" dirty="0"/>
              <a:t>,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-2</a:t>
            </a:r>
            <a:r>
              <a:rPr lang="en-US" dirty="0"/>
              <a:t>, we have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What is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048000"/>
            <a:ext cx="7924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A)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B)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C)</a:t>
            </a:r>
          </a:p>
          <a:p>
            <a:pPr algn="l">
              <a:lnSpc>
                <a:spcPct val="250000"/>
              </a:lnSpc>
            </a:pPr>
            <a:r>
              <a:rPr lang="en-US" b="0" dirty="0">
                <a:latin typeface="+mn-lt"/>
              </a:rPr>
              <a:t>D) None of the above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838200" y="1752600"/>
          <a:ext cx="3557587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2" name="Equation" r:id="rId3" imgW="1714320" imgH="431640" progId="Equation.3">
                  <p:embed/>
                </p:oleObj>
              </mc:Choice>
              <mc:Fallback>
                <p:oleObj name="Equation" r:id="rId3" imgW="1714320" imgH="43164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752600"/>
                        <a:ext cx="3557587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990600" y="3398838"/>
          <a:ext cx="35845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3" name="Equation" r:id="rId5" imgW="1726920" imgH="241200" progId="Equation.3">
                  <p:embed/>
                </p:oleObj>
              </mc:Choice>
              <mc:Fallback>
                <p:oleObj name="Equation" r:id="rId5" imgW="1726920" imgH="2412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398838"/>
                        <a:ext cx="35845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150" y="990600"/>
            <a:ext cx="4210050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990600" y="4297363"/>
          <a:ext cx="2925762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4" name="Equation" r:id="rId8" imgW="1409400" imgH="241200" progId="Equation.3">
                  <p:embed/>
                </p:oleObj>
              </mc:Choice>
              <mc:Fallback>
                <p:oleObj name="Equation" r:id="rId8" imgW="1409400" imgH="241200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297363"/>
                        <a:ext cx="2925762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1031875" y="5211763"/>
          <a:ext cx="376872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5" name="Equation" r:id="rId10" imgW="1815840" imgH="241200" progId="Equation.3">
                  <p:embed/>
                </p:oleObj>
              </mc:Choice>
              <mc:Fallback>
                <p:oleObj name="Equation" r:id="rId10" imgW="1815840" imgH="241200" progId="Equation.3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875" y="5211763"/>
                        <a:ext cx="376872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8347368"/>
      </p:ext>
    </p:extLst>
  </p:cSld>
  <p:clrMapOvr>
    <a:masterClrMapping/>
  </p:clrMapOvr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6665</TotalTime>
  <Pages>21</Pages>
  <Words>153</Words>
  <Application>Microsoft Office PowerPoint</Application>
  <PresentationFormat>On-screen Show (4:3)</PresentationFormat>
  <Paragraphs>26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Corbel</vt:lpstr>
      <vt:lpstr>Helvetica</vt:lpstr>
      <vt:lpstr>Times New Roman</vt:lpstr>
      <vt:lpstr>Wingdings</vt:lpstr>
      <vt:lpstr>1_CSM</vt:lpstr>
      <vt:lpstr>Equation</vt:lpstr>
      <vt:lpstr>Poll everywhere</vt:lpstr>
      <vt:lpstr>Poll Everywhere Exercise (1/4)</vt:lpstr>
      <vt:lpstr>Poll Everywhere Exercise (2/4)</vt:lpstr>
      <vt:lpstr>Poll Everywhere Exercise (3/4)</vt:lpstr>
      <vt:lpstr>Poll Everywhere Exercise (4/4)</vt:lpstr>
    </vt:vector>
  </TitlesOfParts>
  <Company>Colorado School of Mines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dc:creator>Kathryn Johnson</dc:creator>
  <cp:lastModifiedBy>Kathryn Johnson</cp:lastModifiedBy>
  <cp:revision>215</cp:revision>
  <cp:lastPrinted>2011-01-12T15:38:30Z</cp:lastPrinted>
  <dcterms:created xsi:type="dcterms:W3CDTF">2004-08-03T22:49:26Z</dcterms:created>
  <dcterms:modified xsi:type="dcterms:W3CDTF">2022-08-12T18:05:12Z</dcterms:modified>
</cp:coreProperties>
</file>