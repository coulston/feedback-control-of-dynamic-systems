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257" r:id="rId2"/>
    <p:sldId id="281" r:id="rId3"/>
    <p:sldId id="272" r:id="rId4"/>
    <p:sldId id="280" r:id="rId5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07E0"/>
    <a:srgbClr val="2866D6"/>
    <a:srgbClr val="7518E6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13: Second Order System Response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Ungraded Clicker 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Use the quadratic formula to find the poles of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as a function of the damping ratio </a:t>
            </a:r>
            <a:r>
              <a:rPr lang="en-US" i="1" dirty="0" smtClean="0">
                <a:latin typeface="Symbol" panose="05050102010706020507" pitchFamily="18" charset="2"/>
              </a:rPr>
              <a:t>z</a:t>
            </a:r>
            <a:r>
              <a:rPr lang="en-US" dirty="0" smtClean="0"/>
              <a:t> and natural frequency </a:t>
            </a:r>
            <a:r>
              <a:rPr lang="en-US" i="1" dirty="0" err="1" smtClean="0">
                <a:latin typeface="Symbol" panose="05050102010706020507" pitchFamily="18" charset="2"/>
              </a:rPr>
              <a:t>w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/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/>
              <a:t> </a:t>
            </a:r>
            <a:endParaRPr lang="en-US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/>
              <a:t> </a:t>
            </a:r>
            <a:endParaRPr lang="en-US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/>
              <a:t>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891071"/>
              </p:ext>
            </p:extLst>
          </p:nvPr>
        </p:nvGraphicFramePr>
        <p:xfrm>
          <a:off x="2879725" y="1635125"/>
          <a:ext cx="32924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587240" imgH="457200" progId="Equation.3">
                  <p:embed/>
                </p:oleObj>
              </mc:Choice>
              <mc:Fallback>
                <p:oleObj name="Equation" r:id="rId3" imgW="1587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1635125"/>
                        <a:ext cx="32924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232593"/>
              </p:ext>
            </p:extLst>
          </p:nvPr>
        </p:nvGraphicFramePr>
        <p:xfrm>
          <a:off x="838200" y="5105400"/>
          <a:ext cx="30559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473120" imgH="291960" progId="Equation.3">
                  <p:embed/>
                </p:oleObj>
              </mc:Choice>
              <mc:Fallback>
                <p:oleObj name="Equation" r:id="rId5" imgW="14731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105400"/>
                        <a:ext cx="30559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60870"/>
              </p:ext>
            </p:extLst>
          </p:nvPr>
        </p:nvGraphicFramePr>
        <p:xfrm>
          <a:off x="838200" y="5715000"/>
          <a:ext cx="3240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1562040" imgH="291960" progId="Equation.3">
                  <p:embed/>
                </p:oleObj>
              </mc:Choice>
              <mc:Fallback>
                <p:oleObj name="Equation" r:id="rId7" imgW="156204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15000"/>
                        <a:ext cx="32400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438257"/>
              </p:ext>
            </p:extLst>
          </p:nvPr>
        </p:nvGraphicFramePr>
        <p:xfrm>
          <a:off x="823912" y="4495800"/>
          <a:ext cx="32146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1549080" imgH="291960" progId="Equation.3">
                  <p:embed/>
                </p:oleObj>
              </mc:Choice>
              <mc:Fallback>
                <p:oleObj name="Equation" r:id="rId9" imgW="15490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2" y="4495800"/>
                        <a:ext cx="32146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80171"/>
              </p:ext>
            </p:extLst>
          </p:nvPr>
        </p:nvGraphicFramePr>
        <p:xfrm>
          <a:off x="838200" y="3886200"/>
          <a:ext cx="3398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1638000" imgH="291960" progId="Equation.3">
                  <p:embed/>
                </p:oleObj>
              </mc:Choice>
              <mc:Fallback>
                <p:oleObj name="Equation" r:id="rId11" imgW="16380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6200"/>
                        <a:ext cx="33988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00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Ungraded Clicker Exercise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If the poles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 in rectangular coordinates are given by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what is the magnitude when converted to polar coordinates?</a:t>
            </a:r>
          </a:p>
          <a:p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/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/>
              <a:t> </a:t>
            </a:r>
            <a:endParaRPr lang="en-US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/>
              <a:t> </a:t>
            </a:r>
            <a:endParaRPr lang="en-US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dirty="0"/>
              <a:t>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972534"/>
              </p:ext>
            </p:extLst>
          </p:nvPr>
        </p:nvGraphicFramePr>
        <p:xfrm>
          <a:off x="762000" y="3581400"/>
          <a:ext cx="39528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" name="Equation" r:id="rId3" imgW="190440" imgH="228600" progId="Equation.3">
                  <p:embed/>
                </p:oleObj>
              </mc:Choice>
              <mc:Fallback>
                <p:oleObj name="Equation" r:id="rId3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581400"/>
                        <a:ext cx="39528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307155"/>
              </p:ext>
            </p:extLst>
          </p:nvPr>
        </p:nvGraphicFramePr>
        <p:xfrm>
          <a:off x="2932112" y="1600200"/>
          <a:ext cx="3240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Equation" r:id="rId5" imgW="1562040" imgH="291960" progId="Equation.3">
                  <p:embed/>
                </p:oleObj>
              </mc:Choice>
              <mc:Fallback>
                <p:oleObj name="Equation" r:id="rId5" imgW="156204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2" y="1600200"/>
                        <a:ext cx="32400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487833"/>
              </p:ext>
            </p:extLst>
          </p:nvPr>
        </p:nvGraphicFramePr>
        <p:xfrm>
          <a:off x="801688" y="4217988"/>
          <a:ext cx="31591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Equation" r:id="rId7" imgW="152280" imgH="203040" progId="Equation.3">
                  <p:embed/>
                </p:oleObj>
              </mc:Choice>
              <mc:Fallback>
                <p:oleObj name="Equation" r:id="rId7" imgW="152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4217988"/>
                        <a:ext cx="31591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729117"/>
              </p:ext>
            </p:extLst>
          </p:nvPr>
        </p:nvGraphicFramePr>
        <p:xfrm>
          <a:off x="742950" y="4851400"/>
          <a:ext cx="552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Equation" r:id="rId9" imgW="266400" imgH="228600" progId="Equation.3">
                  <p:embed/>
                </p:oleObj>
              </mc:Choice>
              <mc:Fallback>
                <p:oleObj name="Equation" r:id="rId9" imgW="266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4851400"/>
                        <a:ext cx="5524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548712"/>
              </p:ext>
            </p:extLst>
          </p:nvPr>
        </p:nvGraphicFramePr>
        <p:xfrm>
          <a:off x="762000" y="5360988"/>
          <a:ext cx="139541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11" imgW="672840" imgH="279360" progId="Equation.3">
                  <p:embed/>
                </p:oleObj>
              </mc:Choice>
              <mc:Fallback>
                <p:oleObj name="Equation" r:id="rId11" imgW="67284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360988"/>
                        <a:ext cx="139541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027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Effects of Damping Ratio </a:t>
            </a:r>
            <a:r>
              <a:rPr lang="en-US" i="1" dirty="0" smtClean="0">
                <a:latin typeface="Symbol" panose="05050102010706020507" pitchFamily="18" charset="2"/>
              </a:rPr>
              <a:t>z</a:t>
            </a:r>
            <a:r>
              <a:rPr lang="en-US" dirty="0" smtClean="0"/>
              <a:t> and Natural Frequency </a:t>
            </a:r>
            <a:r>
              <a:rPr lang="en-US" i="1" dirty="0" err="1" smtClean="0">
                <a:latin typeface="Symbol" panose="05050102010706020507" pitchFamily="18" charset="2"/>
              </a:rPr>
              <a:t>w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1552575"/>
            <a:ext cx="622935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2876507" y="1981200"/>
            <a:ext cx="2305093" cy="2971800"/>
            <a:chOff x="2876507" y="1981200"/>
            <a:chExt cx="2305093" cy="2971800"/>
          </a:xfrm>
        </p:grpSpPr>
        <p:sp>
          <p:nvSpPr>
            <p:cNvPr id="3" name="Up Arrow 2"/>
            <p:cNvSpPr/>
            <p:nvPr/>
          </p:nvSpPr>
          <p:spPr bwMode="auto">
            <a:xfrm rot="2082967">
              <a:off x="2876507" y="1981200"/>
              <a:ext cx="304800" cy="2971800"/>
            </a:xfrm>
            <a:prstGeom prst="upArrow">
              <a:avLst/>
            </a:prstGeom>
            <a:solidFill>
              <a:srgbClr val="F707E0"/>
            </a:solidFill>
            <a:ln w="127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18722" y="2568714"/>
              <a:ext cx="156287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/>
                <a:t>Decreasing </a:t>
              </a:r>
              <a:r>
                <a:rPr lang="en-US" sz="2000" b="0" i="1" dirty="0">
                  <a:latin typeface="Symbol" panose="05050102010706020507" pitchFamily="18" charset="2"/>
                </a:rPr>
                <a:t>z</a:t>
              </a:r>
              <a:r>
                <a:rPr lang="en-US" sz="2000" b="0" dirty="0" smtClean="0"/>
                <a:t> (</a:t>
              </a:r>
              <a:r>
                <a:rPr lang="en-US" sz="2000" b="0" i="1" dirty="0">
                  <a:latin typeface="Symbol" panose="05050102010706020507" pitchFamily="18" charset="2"/>
                </a:rPr>
                <a:t>z</a:t>
              </a:r>
              <a:r>
                <a:rPr lang="en-US" sz="2000" b="0" dirty="0" smtClean="0"/>
                <a:t> &gt; 0)</a:t>
              </a:r>
              <a:endParaRPr lang="en-US" sz="2000" b="0" i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244994" y="2429564"/>
            <a:ext cx="1774806" cy="2971800"/>
            <a:chOff x="4244994" y="2277164"/>
            <a:chExt cx="1774806" cy="2971800"/>
          </a:xfrm>
        </p:grpSpPr>
        <p:sp>
          <p:nvSpPr>
            <p:cNvPr id="9" name="TextBox 8"/>
            <p:cNvSpPr txBox="1"/>
            <p:nvPr/>
          </p:nvSpPr>
          <p:spPr>
            <a:xfrm>
              <a:off x="4572000" y="3711714"/>
              <a:ext cx="1447800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0" dirty="0" smtClean="0"/>
                <a:t>Increasing </a:t>
              </a:r>
              <a:r>
                <a:rPr lang="en-US" sz="2000" b="0" i="1" dirty="0" err="1" smtClean="0">
                  <a:latin typeface="Symbol" panose="05050102010706020507" pitchFamily="18" charset="2"/>
                </a:rPr>
                <a:t>w</a:t>
              </a:r>
              <a:r>
                <a:rPr lang="en-US" sz="2000" b="0" i="1" baseline="-25000" dirty="0" err="1" smtClean="0"/>
                <a:t>n</a:t>
              </a:r>
              <a:endParaRPr lang="en-US" sz="2000" b="0" i="1" baseline="-25000" dirty="0">
                <a:latin typeface="Symbol" panose="05050102010706020507" pitchFamily="18" charset="2"/>
              </a:endParaRPr>
            </a:p>
          </p:txBody>
        </p:sp>
        <p:sp>
          <p:nvSpPr>
            <p:cNvPr id="8" name="Up Arrow 7"/>
            <p:cNvSpPr/>
            <p:nvPr/>
          </p:nvSpPr>
          <p:spPr bwMode="auto">
            <a:xfrm rot="19034121">
              <a:off x="4244994" y="2277164"/>
              <a:ext cx="304800" cy="2971800"/>
            </a:xfrm>
            <a:prstGeom prst="upArrow">
              <a:avLst/>
            </a:prstGeom>
            <a:solidFill>
              <a:srgbClr val="FFFF00"/>
            </a:solidFill>
            <a:ln w="127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715000" y="1066800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/>
              <a:t> </a:t>
            </a:r>
            <a:r>
              <a:rPr lang="en-US" sz="2000" b="0" i="1" dirty="0" smtClean="0">
                <a:latin typeface="Symbol" panose="05050102010706020507" pitchFamily="18" charset="2"/>
              </a:rPr>
              <a:t>z</a:t>
            </a:r>
            <a:r>
              <a:rPr lang="en-US" sz="2000" b="0" dirty="0" smtClean="0"/>
              <a:t> &lt; 0 </a:t>
            </a:r>
            <a:r>
              <a:rPr lang="en-US" sz="2000" b="0" dirty="0" smtClean="0">
                <a:sym typeface="Wingdings" panose="05000000000000000000" pitchFamily="2" charset="2"/>
              </a:rPr>
              <a:t> unstable</a:t>
            </a:r>
            <a:endParaRPr lang="en-US" sz="2000" b="0" i="1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9103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7475</TotalTime>
  <Pages>21</Pages>
  <Words>72</Words>
  <Application>Microsoft Office PowerPoint</Application>
  <PresentationFormat>On-screen Show (4:3)</PresentationFormat>
  <Paragraphs>22</Paragraphs>
  <Slides>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1_CSM</vt:lpstr>
      <vt:lpstr>Equation</vt:lpstr>
      <vt:lpstr>Lecture 13: Second Order System Response</vt:lpstr>
      <vt:lpstr>Ungraded Clicker Exercise 1</vt:lpstr>
      <vt:lpstr>Ungraded Clicker Exercise 2</vt:lpstr>
      <vt:lpstr>Effects of Damping Ratio z and Natural Frequency wn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212</cp:revision>
  <cp:lastPrinted>2011-01-12T15:38:30Z</cp:lastPrinted>
  <dcterms:created xsi:type="dcterms:W3CDTF">2004-08-03T22:49:26Z</dcterms:created>
  <dcterms:modified xsi:type="dcterms:W3CDTF">2017-10-12T02:14:15Z</dcterms:modified>
</cp:coreProperties>
</file>