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304" r:id="rId2"/>
    <p:sldId id="305" r:id="rId3"/>
    <p:sldId id="306" r:id="rId4"/>
    <p:sldId id="307" r:id="rId5"/>
    <p:sldId id="309" r:id="rId6"/>
    <p:sldId id="310" r:id="rId7"/>
    <p:sldId id="311" r:id="rId8"/>
    <p:sldId id="312" r:id="rId9"/>
    <p:sldId id="313" r:id="rId10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07E0"/>
    <a:srgbClr val="2866D6"/>
    <a:srgbClr val="7518E6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84" autoAdjust="0"/>
    <p:restoredTop sz="94704" autoAdjust="0"/>
  </p:normalViewPr>
  <p:slideViewPr>
    <p:cSldViewPr>
      <p:cViewPr varScale="1">
        <p:scale>
          <a:sx n="78" d="100"/>
          <a:sy n="78" d="100"/>
        </p:scale>
        <p:origin x="151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B1F72-385A-439F-865C-A9B19EAF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Inertia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2A526-E33B-48F9-A501-7764843D3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what you know about translational mechanical systems components (mass, spring, damper), which component law do you expect to apply to the </a:t>
            </a:r>
            <a:r>
              <a:rPr lang="en-US" b="1" dirty="0"/>
              <a:t>rotational inertia</a:t>
            </a:r>
            <a:r>
              <a:rPr lang="en-US" dirty="0"/>
              <a:t> component? </a:t>
            </a:r>
          </a:p>
          <a:p>
            <a:pPr lvl="1"/>
            <a:r>
              <a:rPr lang="en-US" dirty="0"/>
              <a:t>Note: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= torque,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/>
              <a:t> = rotational inertia,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 damping coefficient, </a:t>
            </a:r>
            <a:br>
              <a:rPr lang="en-US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= spring constant, and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dirty="0"/>
              <a:t> = rotational (angular) position.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None of these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/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/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/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B1D5FFB-5B78-460B-B54A-E72C01380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29000"/>
            <a:ext cx="1861088" cy="13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92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B1F72-385A-439F-865C-A9B19EAF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Damping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2A526-E33B-48F9-A501-7764843D3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what you know about translational mechanical systems components (mass, spring, damper), which component law do you expect to apply to the </a:t>
            </a:r>
            <a:r>
              <a:rPr lang="en-US" b="1" dirty="0"/>
              <a:t>rotational damper</a:t>
            </a:r>
            <a:r>
              <a:rPr lang="en-US" dirty="0"/>
              <a:t> component? </a:t>
            </a:r>
          </a:p>
          <a:p>
            <a:pPr lvl="1"/>
            <a:r>
              <a:rPr lang="en-US" dirty="0"/>
              <a:t>Note 1: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= torque,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/>
              <a:t> = rotational inertia,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 damping coefficient, </a:t>
            </a:r>
            <a:br>
              <a:rPr lang="en-US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= spring constant, and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dirty="0"/>
              <a:t> = rotational (angular) position.</a:t>
            </a:r>
          </a:p>
          <a:p>
            <a:pPr lvl="1"/>
            <a:r>
              <a:rPr lang="en-US" dirty="0"/>
              <a:t>Note 2: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None of these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/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/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/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17331B5-B562-4C65-8CC4-59FA2B6EB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563071"/>
            <a:ext cx="2819400" cy="16271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/>
              <p:nvPr/>
            </p:nvSpPr>
            <p:spPr>
              <a:xfrm>
                <a:off x="2003263" y="3048000"/>
                <a:ext cx="18126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63" y="3048000"/>
                <a:ext cx="1812676" cy="461665"/>
              </a:xfrm>
              <a:prstGeom prst="rect">
                <a:avLst/>
              </a:prstGeom>
              <a:blipFill>
                <a:blip r:embed="rId6"/>
                <a:stretch>
                  <a:fillRect l="-337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44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B1F72-385A-439F-865C-A9B19EAF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Spring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2A526-E33B-48F9-A501-7764843D3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what you know about translational mechanical systems components (mass, spring, damper), which component law do you expect to apply to the </a:t>
            </a:r>
            <a:r>
              <a:rPr lang="en-US" b="1" dirty="0"/>
              <a:t>rotational spring</a:t>
            </a:r>
            <a:r>
              <a:rPr lang="en-US" dirty="0"/>
              <a:t> component? </a:t>
            </a:r>
          </a:p>
          <a:p>
            <a:pPr lvl="1"/>
            <a:r>
              <a:rPr lang="en-US" dirty="0"/>
              <a:t>Note 1: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= torque,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/>
              <a:t> = rotational inertia,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 damping coefficient, </a:t>
            </a:r>
            <a:br>
              <a:rPr lang="en-US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= spring constant, and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dirty="0"/>
              <a:t> = rotational (angular) position.</a:t>
            </a:r>
          </a:p>
          <a:p>
            <a:pPr lvl="1"/>
            <a:r>
              <a:rPr lang="en-US" dirty="0"/>
              <a:t>Note 2: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None of these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/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CDDF796-DA88-4197-99C7-CCE393298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8663"/>
                <a:ext cx="1114664" cy="478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/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62269F-2A3B-4CF6-B25E-EF00A810A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2815"/>
                <a:ext cx="1165063" cy="478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/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80DB58-C62F-49B0-9D42-52E71DC89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27" y="5100015"/>
                <a:ext cx="11615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/>
              <p:nvPr/>
            </p:nvSpPr>
            <p:spPr>
              <a:xfrm>
                <a:off x="2003263" y="3048000"/>
                <a:ext cx="18126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63" y="3048000"/>
                <a:ext cx="1812676" cy="461665"/>
              </a:xfrm>
              <a:prstGeom prst="rect">
                <a:avLst/>
              </a:prstGeom>
              <a:blipFill>
                <a:blip r:embed="rId5"/>
                <a:stretch>
                  <a:fillRect l="-337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2BF03E3-8A6F-4A0C-829C-3794B17BF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33800"/>
            <a:ext cx="2438400" cy="147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7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B1F72-385A-439F-865C-A9B19EAF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Impedance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2A526-E33B-48F9-A501-7764843D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334000"/>
          </a:xfrm>
        </p:spPr>
        <p:txBody>
          <a:bodyPr>
            <a:normAutofit/>
          </a:bodyPr>
          <a:lstStyle/>
          <a:p>
            <a:r>
              <a:rPr lang="en-US" dirty="0"/>
              <a:t>Consider the rotational mechanical systems impedance table below. Indicate which statement is </a:t>
            </a:r>
            <a:r>
              <a:rPr lang="en-US" i="1" dirty="0"/>
              <a:t>true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Note 1: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= torque,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/>
              <a:t> = rotational inertia,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 damping coefficient, </a:t>
            </a:r>
            <a:br>
              <a:rPr lang="en-US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= spring constant, and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dirty="0"/>
              <a:t> = rotational (angular) position.</a:t>
            </a:r>
          </a:p>
          <a:p>
            <a:pPr lvl="1"/>
            <a:r>
              <a:rPr lang="en-US" dirty="0"/>
              <a:t>Note 2: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sz="2000" dirty="0"/>
              <a:t>The impedance </a:t>
            </a:r>
            <a:br>
              <a:rPr lang="en-US" sz="2000" dirty="0"/>
            </a:br>
            <a:r>
              <a:rPr lang="en-US" sz="2000" dirty="0"/>
              <a:t>is correct for the</a:t>
            </a:r>
            <a:br>
              <a:rPr lang="en-US" sz="2000" dirty="0"/>
            </a:br>
            <a:r>
              <a:rPr lang="en-US" sz="2000" dirty="0"/>
              <a:t>mass only.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000" dirty="0"/>
              <a:t> The impedance</a:t>
            </a:r>
            <a:br>
              <a:rPr lang="en-US" sz="2000" dirty="0"/>
            </a:br>
            <a:r>
              <a:rPr lang="en-US" sz="2000" dirty="0"/>
              <a:t>is correct for the</a:t>
            </a:r>
            <a:br>
              <a:rPr lang="en-US" sz="2000" dirty="0"/>
            </a:br>
            <a:r>
              <a:rPr lang="en-US" sz="2000" dirty="0"/>
              <a:t>spring and damper.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000" dirty="0"/>
              <a:t> The impedance is</a:t>
            </a:r>
            <a:br>
              <a:rPr lang="en-US" sz="2000" dirty="0"/>
            </a:br>
            <a:r>
              <a:rPr lang="en-US" sz="2000" dirty="0"/>
              <a:t>incorrect for all </a:t>
            </a:r>
            <a:br>
              <a:rPr lang="en-US" sz="2000" dirty="0"/>
            </a:br>
            <a:r>
              <a:rPr lang="en-US" sz="2000" dirty="0"/>
              <a:t>components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/>
              <p:nvPr/>
            </p:nvSpPr>
            <p:spPr>
              <a:xfrm>
                <a:off x="2003263" y="2590800"/>
                <a:ext cx="18126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A69A6-4FC8-4212-A522-FA33EBD15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63" y="2590800"/>
                <a:ext cx="1812676" cy="461665"/>
              </a:xfrm>
              <a:prstGeom prst="rect">
                <a:avLst/>
              </a:prstGeom>
              <a:blipFill>
                <a:blip r:embed="rId2"/>
                <a:stretch>
                  <a:fillRect l="-337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5276281-5690-402C-8E1B-9339BE700D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82"/>
          <a:stretch/>
        </p:blipFill>
        <p:spPr>
          <a:xfrm>
            <a:off x="3124200" y="3051884"/>
            <a:ext cx="5980799" cy="1448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B4F5E-9C64-4A23-B792-03EA295AFD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610"/>
          <a:stretch/>
        </p:blipFill>
        <p:spPr>
          <a:xfrm>
            <a:off x="3128788" y="4804483"/>
            <a:ext cx="5980799" cy="1291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26E5DE-0A92-4BC1-A80D-11BB0C6F18F4}"/>
                  </a:ext>
                </a:extLst>
              </p:cNvPr>
              <p:cNvSpPr/>
              <p:nvPr/>
            </p:nvSpPr>
            <p:spPr>
              <a:xfrm>
                <a:off x="5562600" y="5000980"/>
                <a:ext cx="304800" cy="6705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26E5DE-0A92-4BC1-A80D-11BB0C6F1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000980"/>
                <a:ext cx="304800" cy="670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014B5E-CF03-471C-BED9-704A9DC48C69}"/>
                  </a:ext>
                </a:extLst>
              </p:cNvPr>
              <p:cNvSpPr/>
              <p:nvPr/>
            </p:nvSpPr>
            <p:spPr>
              <a:xfrm>
                <a:off x="8153400" y="4642484"/>
                <a:ext cx="342241" cy="7169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014B5E-CF03-471C-BED9-704A9DC48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4642484"/>
                <a:ext cx="342241" cy="716991"/>
              </a:xfrm>
              <a:prstGeom prst="rect">
                <a:avLst/>
              </a:prstGeom>
              <a:blipFill>
                <a:blip r:embed="rId5"/>
                <a:stretch>
                  <a:fillRect l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B5162B-7EB3-4FB6-919A-652D5494F1DE}"/>
                  </a:ext>
                </a:extLst>
              </p:cNvPr>
              <p:cNvSpPr/>
              <p:nvPr/>
            </p:nvSpPr>
            <p:spPr>
              <a:xfrm>
                <a:off x="6839279" y="4638544"/>
                <a:ext cx="342241" cy="6893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B5162B-7EB3-4FB6-919A-652D5494F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279" y="4638544"/>
                <a:ext cx="342241" cy="6893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32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873D-A2F1-4246-A8A1-4CAFEFE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 Read Head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7176-9C7F-453F-BFFB-CBB68411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tasked with finding the transfer function from the motor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to the read head angular position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for a hard disk drive. You first sketch an ideal element diagram of the system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many nodes must you sketch, including ground?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A8B-F0F3-4E98-97E2-014BAF96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85798"/>
            <a:ext cx="6276698" cy="2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0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873D-A2F1-4246-A8A1-4CAFEFE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 Read Head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7176-9C7F-453F-BFFB-CBB68411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tasked with finding the transfer function from the motor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to the read head angular position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for a hard disk drive. You first sketch an ideal element diagram of the system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Between which two nodes will the rotational damper appear?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A8B-F0F3-4E98-97E2-014BAF96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85798"/>
            <a:ext cx="6276698" cy="2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1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873D-A2F1-4246-A8A1-4CAFEFE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 Read Head Example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7176-9C7F-453F-BFFB-CBB68411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tasked with finding the transfer function from the motor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to the read head angular position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for a hard disk drive. You first sketch an ideal element diagram of the system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Between which two nodes will the inertia labeled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 appear?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A8B-F0F3-4E98-97E2-014BAF96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85798"/>
            <a:ext cx="6276698" cy="2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873D-A2F1-4246-A8A1-4CAFEFE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 Read Head Example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7176-9C7F-453F-BFFB-CBB68411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tasked with finding the transfer function from the motor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to the read head angular position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for a hard disk drive. You first sketch an ideal element diagram of the system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Will the source (torque) appear as a current or voltage source?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A8B-F0F3-4E98-97E2-014BAF96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85798"/>
            <a:ext cx="6276698" cy="2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2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873D-A2F1-4246-A8A1-4CAFEFE0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 Read Head Example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7176-9C7F-453F-BFFB-CBB68411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tasked with finding the transfer function from the motor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/>
              <a:t> to the read head angular position </a:t>
            </a:r>
            <a:r>
              <a:rPr lang="en-US" i="1" dirty="0">
                <a:latin typeface="Symbol" panose="05050102010706020507" pitchFamily="18" charset="2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for a hard disk drive. You first sketch an ideal element diagram of the system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Between which two nodes will the source (torque) appear, and which way will it point?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7CA8B-F0F3-4E98-97E2-014BAF96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85798"/>
            <a:ext cx="6276698" cy="23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38611"/>
      </p:ext>
    </p:extLst>
  </p:cSld>
  <p:clrMapOvr>
    <a:masterClrMapping/>
  </p:clrMapOvr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6891</TotalTime>
  <Pages>21</Pages>
  <Words>651</Words>
  <Application>Microsoft Office PowerPoint</Application>
  <PresentationFormat>On-screen Show (4:3)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Cambria Math</vt:lpstr>
      <vt:lpstr>Corbel</vt:lpstr>
      <vt:lpstr>Helvetica</vt:lpstr>
      <vt:lpstr>Symbol</vt:lpstr>
      <vt:lpstr>Times New Roman</vt:lpstr>
      <vt:lpstr>Wingdings</vt:lpstr>
      <vt:lpstr>1_CSM</vt:lpstr>
      <vt:lpstr>Rotational Inertia</vt:lpstr>
      <vt:lpstr>Rotational Damping</vt:lpstr>
      <vt:lpstr>Rotational Spring</vt:lpstr>
      <vt:lpstr>Rotational Impedance</vt:lpstr>
      <vt:lpstr>Hard Disk Drive Read Head Example (1)</vt:lpstr>
      <vt:lpstr>Hard Disk Drive Read Head Example (2)</vt:lpstr>
      <vt:lpstr>Hard Disk Drive Read Head Example (3)</vt:lpstr>
      <vt:lpstr>Hard Disk Drive Read Head Example (4)</vt:lpstr>
      <vt:lpstr>Hard Disk Drive Read Head Example (5)</vt:lpstr>
    </vt:vector>
  </TitlesOfParts>
  <Company>Colorado School of Mines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222</cp:revision>
  <cp:lastPrinted>2022-01-26T03:51:44Z</cp:lastPrinted>
  <dcterms:created xsi:type="dcterms:W3CDTF">2004-08-03T22:49:26Z</dcterms:created>
  <dcterms:modified xsi:type="dcterms:W3CDTF">2022-01-26T03:54:31Z</dcterms:modified>
</cp:coreProperties>
</file>