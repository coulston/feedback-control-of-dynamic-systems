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68" r:id="rId4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8: Mechanical Impedance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 Turbine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6400800" cy="56388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Recall from Thursday, 9/7 handout: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Given </a:t>
            </a:r>
            <a:r>
              <a:rPr lang="en-US" dirty="0"/>
              <a:t>that rotational speed is the time derivative of rotational position, i.e., </a:t>
            </a:r>
            <a:r>
              <a:rPr lang="en-US" dirty="0" smtClean="0"/>
              <a:t>use </a:t>
            </a:r>
            <a:r>
              <a:rPr lang="en-US" dirty="0"/>
              <a:t>impedance-based concepts to find the transfer function from aerodynamic torque </a:t>
            </a:r>
            <a:r>
              <a:rPr lang="en-US" i="1" dirty="0">
                <a:latin typeface="Symbol" panose="05050102010706020507" pitchFamily="18" charset="2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to rotational position </a:t>
            </a:r>
            <a:r>
              <a:rPr lang="en-US" i="1" dirty="0" smtClean="0">
                <a:latin typeface="Symbol" panose="05050102010706020507" pitchFamily="18" charset="2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. </a:t>
            </a:r>
            <a:r>
              <a:rPr lang="en-US" dirty="0"/>
              <a:t>Consider the following steps:</a:t>
            </a:r>
          </a:p>
          <a:p>
            <a:pPr marL="690563" lvl="0" indent="-233363">
              <a:buFont typeface="+mj-lt"/>
              <a:buAutoNum type="arabicParenR"/>
            </a:pPr>
            <a:r>
              <a:rPr lang="en-US" dirty="0"/>
              <a:t>Sketch the ideal element diagram. Since </a:t>
            </a:r>
            <a:r>
              <a:rPr lang="en-US" dirty="0" smtClean="0"/>
              <a:t>                   , </a:t>
            </a:r>
            <a:r>
              <a:rPr lang="en-US" dirty="0"/>
              <a:t>does the control torque act like a spring or a damper? How many ideal elements would you use?</a:t>
            </a:r>
          </a:p>
          <a:p>
            <a:pPr marL="690563" lvl="0" indent="-233363">
              <a:buFont typeface="+mj-lt"/>
              <a:buAutoNum type="arabicParenR"/>
            </a:pPr>
            <a:r>
              <a:rPr lang="en-US" dirty="0"/>
              <a:t>Sketch all necessary nodes</a:t>
            </a:r>
          </a:p>
          <a:p>
            <a:pPr marL="690563" lvl="0" indent="-233363">
              <a:buFont typeface="+mj-lt"/>
              <a:buAutoNum type="arabicParenR"/>
            </a:pPr>
            <a:r>
              <a:rPr lang="en-US" dirty="0"/>
              <a:t>Connect the node(s) to ground using the impedances of the components.</a:t>
            </a:r>
          </a:p>
          <a:p>
            <a:pPr marL="690563" lvl="0" indent="-233363">
              <a:buFont typeface="+mj-lt"/>
              <a:buAutoNum type="arabicParenR"/>
            </a:pPr>
            <a:r>
              <a:rPr lang="en-US" dirty="0"/>
              <a:t>Add the source (is torque a through variable or an across variable? does that mean you’re using a current source or a voltage source?)</a:t>
            </a:r>
          </a:p>
          <a:p>
            <a:pPr marL="690563" lvl="0" indent="-233363">
              <a:buFont typeface="+mj-lt"/>
              <a:buAutoNum type="arabicParenR"/>
            </a:pPr>
            <a:r>
              <a:rPr lang="en-US" dirty="0"/>
              <a:t>Use circuit methods to find the transfer function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98953" y="1447800"/>
            <a:ext cx="7378247" cy="2046920"/>
            <a:chOff x="0" y="0"/>
            <a:chExt cx="8763000" cy="2590800"/>
          </a:xfrm>
        </p:grpSpPr>
        <p:sp>
          <p:nvSpPr>
            <p:cNvPr id="5" name="Rectangle 4"/>
            <p:cNvSpPr/>
            <p:nvPr/>
          </p:nvSpPr>
          <p:spPr bwMode="auto">
            <a:xfrm>
              <a:off x="0" y="0"/>
              <a:ext cx="8763000" cy="2590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65100" dist="35921" dir="2400000" sx="104000" sy="104000" algn="ctr" rotWithShape="0">
                <a:schemeClr val="bg2">
                  <a:alpha val="51000"/>
                </a:schemeClr>
              </a:outerShdw>
            </a:effectLst>
            <a:ex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91934" y="121232"/>
              <a:ext cx="8594866" cy="2393367"/>
              <a:chOff x="91934" y="121232"/>
              <a:chExt cx="6934200" cy="1719925"/>
            </a:xfrm>
          </p:grpSpPr>
          <p:pic>
            <p:nvPicPr>
              <p:cNvPr id="7" name="Picture 6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3815" b="18724"/>
              <a:stretch/>
            </p:blipFill>
            <p:spPr bwMode="auto">
              <a:xfrm>
                <a:off x="91934" y="121232"/>
                <a:ext cx="6934200" cy="108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Picture 7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5747" b="10206"/>
              <a:stretch/>
            </p:blipFill>
            <p:spPr bwMode="auto">
              <a:xfrm>
                <a:off x="91934" y="1208231"/>
                <a:ext cx="6934200" cy="251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" name="Picture 8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2874"/>
              <a:stretch/>
            </p:blipFill>
            <p:spPr bwMode="auto">
              <a:xfrm>
                <a:off x="91934" y="1397514"/>
                <a:ext cx="6934200" cy="443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3076" name="Picture 4" descr="C:\Users\kjohnson\AppData\Local\Microsoft\Windows\Temporary Internet Files\Content.IE5\1OZAJCAO\Palo-eolico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756315"/>
            <a:ext cx="2286000" cy="282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c 9"/>
          <p:cNvSpPr/>
          <p:nvPr/>
        </p:nvSpPr>
        <p:spPr bwMode="auto">
          <a:xfrm>
            <a:off x="6400800" y="3756315"/>
            <a:ext cx="1981200" cy="1981200"/>
          </a:xfrm>
          <a:prstGeom prst="arc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Arc 13"/>
          <p:cNvSpPr/>
          <p:nvPr/>
        </p:nvSpPr>
        <p:spPr bwMode="auto">
          <a:xfrm rot="856496">
            <a:off x="6644328" y="3733800"/>
            <a:ext cx="1981200" cy="1981200"/>
          </a:xfrm>
          <a:prstGeom prst="arc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515275"/>
              </p:ext>
            </p:extLst>
          </p:nvPr>
        </p:nvGraphicFramePr>
        <p:xfrm>
          <a:off x="7513638" y="3975100"/>
          <a:ext cx="87947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Equation" r:id="rId5" imgW="279360" imgH="228600" progId="Equation.3">
                  <p:embed/>
                </p:oleObj>
              </mc:Choice>
              <mc:Fallback>
                <p:oleObj name="Equation" r:id="rId5" imgW="2793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3638" y="3975100"/>
                        <a:ext cx="87947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919119"/>
              </p:ext>
            </p:extLst>
          </p:nvPr>
        </p:nvGraphicFramePr>
        <p:xfrm>
          <a:off x="8362950" y="3606800"/>
          <a:ext cx="4397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Equation" r:id="rId7" imgW="139680" imgH="177480" progId="Equation.3">
                  <p:embed/>
                </p:oleObj>
              </mc:Choice>
              <mc:Fallback>
                <p:oleObj name="Equation" r:id="rId7" imgW="13968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2950" y="3606800"/>
                        <a:ext cx="4397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725161"/>
              </p:ext>
            </p:extLst>
          </p:nvPr>
        </p:nvGraphicFramePr>
        <p:xfrm>
          <a:off x="4616529" y="4419599"/>
          <a:ext cx="1022271" cy="24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9" imgW="1079032" imgH="253890" progId="Equation.3">
                  <p:embed/>
                </p:oleObj>
              </mc:Choice>
              <mc:Fallback>
                <p:oleObj name="Equation" r:id="rId9" imgW="1079032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529" y="4419599"/>
                        <a:ext cx="1022271" cy="2413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509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setting (for project)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again the wind turbine impedance problem </a:t>
            </a:r>
          </a:p>
          <a:p>
            <a:pPr lvl="1"/>
            <a:r>
              <a:rPr lang="en-US" dirty="0" smtClean="0"/>
              <a:t>Can you state a “problem” that finding this transfer function is the first step toward solving?</a:t>
            </a:r>
          </a:p>
          <a:p>
            <a:pPr lvl="1"/>
            <a:r>
              <a:rPr lang="en-US" dirty="0" smtClean="0"/>
              <a:t>Can you discern anything about the author of the original problem by the way it is written?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152400" y="3581400"/>
            <a:ext cx="8763000" cy="2590800"/>
            <a:chOff x="152400" y="3352800"/>
            <a:chExt cx="8763000" cy="2590800"/>
          </a:xfrm>
        </p:grpSpPr>
        <p:sp>
          <p:nvSpPr>
            <p:cNvPr id="9" name="Rectangle 8"/>
            <p:cNvSpPr/>
            <p:nvPr/>
          </p:nvSpPr>
          <p:spPr bwMode="auto">
            <a:xfrm>
              <a:off x="152400" y="3352800"/>
              <a:ext cx="8763000" cy="2590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65100" dist="35921" dir="2400000" sx="104000" sy="104000" algn="ctr" rotWithShape="0">
                <a:schemeClr val="bg2">
                  <a:alpha val="51000"/>
                </a:scheme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44334" y="3474032"/>
              <a:ext cx="8594866" cy="2393368"/>
              <a:chOff x="1066800" y="4528475"/>
              <a:chExt cx="6934200" cy="1719925"/>
            </a:xfrm>
          </p:grpSpPr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3815" b="18724"/>
              <a:stretch/>
            </p:blipFill>
            <p:spPr bwMode="auto">
              <a:xfrm>
                <a:off x="1066800" y="4528475"/>
                <a:ext cx="6934200" cy="108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5747" b="10206"/>
              <a:stretch/>
            </p:blipFill>
            <p:spPr bwMode="auto">
              <a:xfrm>
                <a:off x="1066800" y="5615474"/>
                <a:ext cx="6934200" cy="251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2874"/>
              <a:stretch/>
            </p:blipFill>
            <p:spPr bwMode="auto">
              <a:xfrm>
                <a:off x="1066800" y="5804757"/>
                <a:ext cx="6934200" cy="443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90679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6633</TotalTime>
  <Pages>21</Pages>
  <Words>195</Words>
  <Application>Microsoft Office PowerPoint</Application>
  <PresentationFormat>On-screen Show (4:3)</PresentationFormat>
  <Paragraphs>26</Paragraphs>
  <Slides>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1_CSM</vt:lpstr>
      <vt:lpstr>Equation</vt:lpstr>
      <vt:lpstr>Lecture 8: Mechanical Impedance</vt:lpstr>
      <vt:lpstr>Wind Turbine Example</vt:lpstr>
      <vt:lpstr>Problem setting (for project)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204</cp:revision>
  <cp:lastPrinted>2017-09-08T18:42:21Z</cp:lastPrinted>
  <dcterms:created xsi:type="dcterms:W3CDTF">2004-08-03T22:49:26Z</dcterms:created>
  <dcterms:modified xsi:type="dcterms:W3CDTF">2017-10-11T23:07:59Z</dcterms:modified>
</cp:coreProperties>
</file>