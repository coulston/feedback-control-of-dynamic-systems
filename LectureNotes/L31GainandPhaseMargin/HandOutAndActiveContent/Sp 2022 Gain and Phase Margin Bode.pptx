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752" r:id="rId2"/>
    <p:sldId id="753" r:id="rId3"/>
    <p:sldId id="754" r:id="rId4"/>
    <p:sldId id="749" r:id="rId5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84" autoAdjust="0"/>
    <p:restoredTop sz="94704" autoAdjust="0"/>
  </p:normalViewPr>
  <p:slideViewPr>
    <p:cSldViewPr>
      <p:cViewPr varScale="1">
        <p:scale>
          <a:sx n="78" d="100"/>
          <a:sy n="78" d="100"/>
        </p:scale>
        <p:origin x="151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both A and C are correct</a:t>
            </a:r>
          </a:p>
        </p:txBody>
      </p:sp>
    </p:spTree>
    <p:extLst>
      <p:ext uri="{BB962C8B-B14F-4D97-AF65-F5344CB8AC3E}">
        <p14:creationId xmlns:p14="http://schemas.microsoft.com/office/powerpoint/2010/main" val="1830306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57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ev.com/kathrynjohns083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hyperlink" Target="https://pollev.com/kathrynjohns08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hyperlink" Target="https://pollev.com/kathrynjohns083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</a:t>
            </a:r>
            <a:r>
              <a:rPr lang="en-US" dirty="0"/>
              <a:t> Check on Gain Margin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https://pollev.com/kathrynjohns083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Which of the following should be your </a:t>
            </a:r>
            <a:r>
              <a:rPr lang="en-US" b="1" i="1" dirty="0">
                <a:solidFill>
                  <a:srgbClr val="92D050"/>
                </a:solidFill>
              </a:rPr>
              <a:t>first</a:t>
            </a:r>
            <a:r>
              <a:rPr lang="en-US" b="1" dirty="0"/>
              <a:t> step for computing the gain margin?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locate the frequency </a:t>
            </a:r>
            <a:r>
              <a:rPr lang="en-US" i="1" dirty="0" err="1">
                <a:latin typeface="Symbol" panose="05050102010706020507" pitchFamily="18" charset="2"/>
              </a:rPr>
              <a:t>w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where the magnitude Bode plot crosses 0 dB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locate the frequency </a:t>
            </a:r>
            <a:r>
              <a:rPr lang="en-US" i="1" dirty="0">
                <a:latin typeface="Symbol" panose="05050102010706020507" pitchFamily="18" charset="2"/>
              </a:rPr>
              <a:t>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en-US" dirty="0"/>
              <a:t> where the phase Bode plot crosses </a:t>
            </a:r>
            <a:br>
              <a:rPr lang="en-US" dirty="0"/>
            </a:br>
            <a:r>
              <a:rPr lang="en-US" dirty="0"/>
              <a:t>-180 deg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determine how far the low-frequency gain is above or below </a:t>
            </a:r>
            <a:br>
              <a:rPr lang="en-US" dirty="0"/>
            </a:br>
            <a:r>
              <a:rPr lang="en-US" dirty="0"/>
              <a:t>0 dB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convert the low-frequency gain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dirty="0"/>
              <a:t> from dB to scaling factor (gain)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using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002009"/>
              </p:ext>
            </p:extLst>
          </p:nvPr>
        </p:nvGraphicFramePr>
        <p:xfrm>
          <a:off x="3962400" y="5459963"/>
          <a:ext cx="1143000" cy="55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4" imgW="622080" imgH="304560" progId="Equation.DSMT4">
                  <p:embed/>
                </p:oleObj>
              </mc:Choice>
              <mc:Fallback>
                <p:oleObj name="Equation" r:id="rId4" imgW="622080" imgH="3045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2400" y="5459963"/>
                        <a:ext cx="1143000" cy="55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843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</a:t>
            </a:r>
            <a:r>
              <a:rPr lang="en-US" dirty="0"/>
              <a:t> Check on Gain Margin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https://pollev.com/kathrynjohns083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Which of the following is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b="1" dirty="0"/>
              <a:t> a step for computing the gain margin?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locate the frequency </a:t>
            </a:r>
            <a:r>
              <a:rPr lang="en-US" i="1" dirty="0" err="1">
                <a:latin typeface="Symbol" panose="05050102010706020507" pitchFamily="18" charset="2"/>
              </a:rPr>
              <a:t>w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where the magnitude Bode plot crosses 0 dB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locate the frequency </a:t>
            </a:r>
            <a:r>
              <a:rPr lang="en-US" i="1" dirty="0">
                <a:latin typeface="Symbol" panose="05050102010706020507" pitchFamily="18" charset="2"/>
              </a:rPr>
              <a:t>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en-US" dirty="0"/>
              <a:t> where the phase Bode plot crosses </a:t>
            </a:r>
            <a:br>
              <a:rPr lang="en-US" dirty="0"/>
            </a:br>
            <a:r>
              <a:rPr lang="en-US" dirty="0"/>
              <a:t>-180 deg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determine how far the low-frequency gain is above or below </a:t>
            </a:r>
            <a:br>
              <a:rPr lang="en-US" dirty="0"/>
            </a:br>
            <a:r>
              <a:rPr lang="en-US" dirty="0"/>
              <a:t>0 dB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convert the low-frequency gain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dirty="0"/>
              <a:t> from dB to scaling factor (gain)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using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962400" y="5459963"/>
          <a:ext cx="1143000" cy="55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5" imgW="622080" imgH="304560" progId="Equation.DSMT4">
                  <p:embed/>
                </p:oleObj>
              </mc:Choice>
              <mc:Fallback>
                <p:oleObj name="Equation" r:id="rId5" imgW="622080" imgH="3045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5459963"/>
                        <a:ext cx="1143000" cy="55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394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</a:t>
            </a:r>
            <a:r>
              <a:rPr lang="en-US" dirty="0"/>
              <a:t> Check on Phase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https://pollev.com/kathrynjohns083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Which of the following should be your </a:t>
            </a:r>
            <a:r>
              <a:rPr lang="en-US" b="1" i="1" dirty="0">
                <a:solidFill>
                  <a:srgbClr val="92D050"/>
                </a:solidFill>
              </a:rPr>
              <a:t>first</a:t>
            </a:r>
            <a:r>
              <a:rPr lang="en-US" b="1" dirty="0"/>
              <a:t> step for computing the </a:t>
            </a:r>
            <a:r>
              <a:rPr lang="en-US" b="1" dirty="0">
                <a:solidFill>
                  <a:srgbClr val="00B0F0"/>
                </a:solidFill>
              </a:rPr>
              <a:t>phase</a:t>
            </a:r>
            <a:r>
              <a:rPr lang="en-US" b="1" dirty="0"/>
              <a:t> margin?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locate the frequency </a:t>
            </a:r>
            <a:r>
              <a:rPr lang="en-US" i="1" dirty="0" err="1">
                <a:latin typeface="Symbol" panose="05050102010706020507" pitchFamily="18" charset="2"/>
              </a:rPr>
              <a:t>w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where the magnitude Bode plot crosses 0 dB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locate the frequency </a:t>
            </a:r>
            <a:r>
              <a:rPr lang="en-US" i="1" dirty="0">
                <a:latin typeface="Symbol" panose="05050102010706020507" pitchFamily="18" charset="2"/>
              </a:rPr>
              <a:t>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en-US" dirty="0"/>
              <a:t> where the phase Bode plot crosses </a:t>
            </a:r>
            <a:br>
              <a:rPr lang="en-US" dirty="0"/>
            </a:br>
            <a:r>
              <a:rPr lang="en-US" dirty="0"/>
              <a:t>-180 deg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determine how far the low-frequency gain is above or below </a:t>
            </a:r>
            <a:br>
              <a:rPr lang="en-US" dirty="0"/>
            </a:br>
            <a:r>
              <a:rPr lang="en-US" dirty="0"/>
              <a:t>0 dB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convert the low-frequency gain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dirty="0"/>
              <a:t> from dB to scaling factor (gain)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using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962400" y="5459963"/>
          <a:ext cx="1143000" cy="55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5" imgW="622080" imgH="304560" progId="Equation.DSMT4">
                  <p:embed/>
                </p:oleObj>
              </mc:Choice>
              <mc:Fallback>
                <p:oleObj name="Equation" r:id="rId5" imgW="622080" imgH="3045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5459963"/>
                        <a:ext cx="1143000" cy="55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845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C9E2-7F0C-45DA-8119-3FEEE61C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Handout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73B4-A2F1-48C6-AA68-C17EB5FF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from last time: can use this handout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BAFBC-0DD0-4EF9-919F-702F7622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673005"/>
            <a:ext cx="3962400" cy="480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912961"/>
      </p:ext>
    </p:extLst>
  </p:cSld>
  <p:clrMapOvr>
    <a:masterClrMapping/>
  </p:clrMapOvr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6692</TotalTime>
  <Pages>21</Pages>
  <Words>265</Words>
  <Application>Microsoft Office PowerPoint</Application>
  <PresentationFormat>On-screen Show (4:3)</PresentationFormat>
  <Paragraphs>27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Corbel</vt:lpstr>
      <vt:lpstr>Helvetica</vt:lpstr>
      <vt:lpstr>Symbol</vt:lpstr>
      <vt:lpstr>Times New Roman</vt:lpstr>
      <vt:lpstr>Wingdings</vt:lpstr>
      <vt:lpstr>1_CSM</vt:lpstr>
      <vt:lpstr>Equation</vt:lpstr>
      <vt:lpstr>PollEv Check on Gain Margin - 1</vt:lpstr>
      <vt:lpstr>PollEv Check on Gain Margin - 2</vt:lpstr>
      <vt:lpstr>PollEv Check on Phase Margin</vt:lpstr>
      <vt:lpstr>Handout Reminder</vt:lpstr>
    </vt:vector>
  </TitlesOfParts>
  <Company>Colorado School of Mines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dc:creator>Kathryn Johnson</dc:creator>
  <cp:lastModifiedBy>Kathryn Johnson</cp:lastModifiedBy>
  <cp:revision>213</cp:revision>
  <cp:lastPrinted>2022-04-19T18:11:40Z</cp:lastPrinted>
  <dcterms:created xsi:type="dcterms:W3CDTF">2004-08-03T22:49:26Z</dcterms:created>
  <dcterms:modified xsi:type="dcterms:W3CDTF">2022-09-14T22:02:46Z</dcterms:modified>
</cp:coreProperties>
</file>