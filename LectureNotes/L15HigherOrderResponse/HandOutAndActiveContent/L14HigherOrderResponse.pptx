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7"/>
  </p:notesMasterIdLst>
  <p:handoutMasterIdLst>
    <p:handoutMasterId r:id="rId8"/>
  </p:handoutMasterIdLst>
  <p:sldIdLst>
    <p:sldId id="257" r:id="rId2"/>
    <p:sldId id="268" r:id="rId3"/>
    <p:sldId id="271" r:id="rId4"/>
    <p:sldId id="277" r:id="rId5"/>
    <p:sldId id="275" r:id="rId6"/>
  </p:sldIdLst>
  <p:sldSz cx="9144000" cy="6858000" type="screen4x3"/>
  <p:notesSz cx="9296400" cy="7010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866D6"/>
    <a:srgbClr val="7518E6"/>
    <a:srgbClr val="F707E0"/>
    <a:srgbClr val="EFFFFF"/>
    <a:srgbClr val="DDFFFF"/>
    <a:srgbClr val="008080"/>
    <a:srgbClr val="FF0000"/>
    <a:srgbClr val="993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84" autoAdjust="0"/>
    <p:restoredTop sz="94704" autoAdjust="0"/>
  </p:normalViewPr>
  <p:slideViewPr>
    <p:cSldViewPr>
      <p:cViewPr varScale="1">
        <p:scale>
          <a:sx n="77" d="100"/>
          <a:sy n="77" d="100"/>
        </p:scale>
        <p:origin x="-1522" y="-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064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41666" y="3330419"/>
            <a:ext cx="6813070" cy="3153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1" tIns="44918" rIns="91441" bIns="449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notes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8300" y="530225"/>
            <a:ext cx="3490913" cy="26193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96504" y="32012"/>
            <a:ext cx="3291929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l" defTabSz="923925"/>
            <a:r>
              <a:rPr lang="en-US" sz="1400" b="0"/>
              <a:t>Tyrone Vincent - tvincent@eecs.umich.edu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8808984" y="6667711"/>
            <a:ext cx="393058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r" defTabSz="923925"/>
            <a:fld id="{183E808D-F99F-4B9D-8352-195EAC193A89}" type="slidenum">
              <a:rPr lang="en-US" sz="1400" b="0"/>
              <a:pPr algn="r" defTabSz="923925"/>
              <a:t>‹#›</a:t>
            </a:fld>
            <a:endParaRPr lang="en-US" sz="1400" b="0"/>
          </a:p>
        </p:txBody>
      </p:sp>
    </p:spTree>
    <p:extLst>
      <p:ext uri="{BB962C8B-B14F-4D97-AF65-F5344CB8AC3E}">
        <p14:creationId xmlns:p14="http://schemas.microsoft.com/office/powerpoint/2010/main" val="304218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6713" y="530225"/>
            <a:ext cx="3492500" cy="2619375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676400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38600"/>
            <a:ext cx="64008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180228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30F1D48F-0C8B-4CD2-93D0-5232B7F405E7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80229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30" name="Rectangle 6"/>
          <p:cNvSpPr>
            <a:spLocks noChangeArrowheads="1"/>
          </p:cNvSpPr>
          <p:nvPr/>
        </p:nvSpPr>
        <p:spPr bwMode="auto">
          <a:xfrm>
            <a:off x="0" y="3657600"/>
            <a:ext cx="82296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80232" name="Picture 8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3124200"/>
            <a:ext cx="7477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0233" name="Text Box 9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EENG307: 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7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165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8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5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8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714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732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128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3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-12700"/>
            <a:ext cx="2095500" cy="6184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-12700"/>
            <a:ext cx="6134100" cy="6184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20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2700"/>
            <a:ext cx="7772400" cy="6223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1430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338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5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-12700"/>
            <a:ext cx="77724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3820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E880E0BA-0E01-4C8C-AD44-E1CE19588DBC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21861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4" name="Rectangle 8"/>
          <p:cNvSpPr>
            <a:spLocks noChangeArrowheads="1"/>
          </p:cNvSpPr>
          <p:nvPr userDrawn="1"/>
        </p:nvSpPr>
        <p:spPr bwMode="auto">
          <a:xfrm>
            <a:off x="0" y="762000"/>
            <a:ext cx="83820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21865" name="Picture 9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381000"/>
            <a:ext cx="5984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1866" name="Text Box 10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</a:t>
            </a:r>
            <a:r>
              <a:rPr lang="en-US" sz="1200" b="0" dirty="0">
                <a:solidFill>
                  <a:srgbClr val="008080"/>
                </a:solidFill>
                <a:latin typeface="Arial" charset="0"/>
              </a:rPr>
              <a:t>: </a:t>
            </a: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5000"/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100000"/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Times New Roman" pitchFamily="18" charset="0"/>
        <a:buChar char="◘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BhMSzC1crr0" TargetMode="Externa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00213"/>
            <a:ext cx="7772400" cy="1303337"/>
          </a:xfrm>
        </p:spPr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Lecture 14: Higher Order System Response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Introduction to Feedback Control Systems</a:t>
            </a:r>
          </a:p>
          <a:p>
            <a:r>
              <a:rPr lang="en-US" dirty="0" smtClean="0"/>
              <a:t>Section D (Johnson)</a:t>
            </a:r>
          </a:p>
          <a:p>
            <a:r>
              <a:rPr lang="en-US" dirty="0" smtClean="0"/>
              <a:t>Fall 2017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Matlab</a:t>
            </a:r>
            <a:r>
              <a:rPr lang="en-US" dirty="0" smtClean="0"/>
              <a:t> demo, part 2: wind turbine rotational speed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5486400" cy="5029200"/>
          </a:xfrm>
        </p:spPr>
        <p:txBody>
          <a:bodyPr>
            <a:normAutofit fontScale="92500"/>
          </a:bodyPr>
          <a:lstStyle/>
          <a:p>
            <a:r>
              <a:rPr lang="en-US" dirty="0"/>
              <a:t>Compared to the </a:t>
            </a:r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order transfer function given earlier, </a:t>
            </a:r>
            <a:r>
              <a:rPr lang="en-US" dirty="0"/>
              <a:t>a more realistic description of the relationship between the wind speed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 smtClean="0"/>
              <a:t> </a:t>
            </a:r>
            <a:r>
              <a:rPr lang="en-US" dirty="0"/>
              <a:t>and a wind turbine’s rotational speed </a:t>
            </a:r>
            <a:r>
              <a:rPr lang="en-US" i="1" dirty="0">
                <a:latin typeface="Symbol" panose="05050102010706020507" pitchFamily="18" charset="2"/>
              </a:rPr>
              <a:t>w</a:t>
            </a:r>
            <a:r>
              <a:rPr lang="en-US" dirty="0"/>
              <a:t> is given by the </a:t>
            </a:r>
            <a:r>
              <a:rPr lang="en-US" dirty="0" smtClean="0"/>
              <a:t>3</a:t>
            </a:r>
            <a:r>
              <a:rPr lang="en-US" baseline="30000" dirty="0" smtClean="0"/>
              <a:t>rd</a:t>
            </a:r>
            <a:r>
              <a:rPr lang="en-US" dirty="0" smtClean="0"/>
              <a:t> order transfer function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Compared to the first order example from Lecture 12, </a:t>
            </a:r>
            <a:r>
              <a:rPr lang="en-US" dirty="0"/>
              <a:t>w</a:t>
            </a:r>
            <a:r>
              <a:rPr lang="en-US" dirty="0" smtClean="0"/>
              <a:t>e </a:t>
            </a:r>
            <a:r>
              <a:rPr lang="en-US" dirty="0" smtClean="0"/>
              <a:t>want to understand what are the impacts of</a:t>
            </a:r>
          </a:p>
          <a:p>
            <a:pPr lvl="1"/>
            <a:r>
              <a:rPr lang="en-US" dirty="0" smtClean="0"/>
              <a:t>The additional poles</a:t>
            </a:r>
          </a:p>
          <a:p>
            <a:pPr lvl="1"/>
            <a:r>
              <a:rPr lang="en-US" dirty="0" smtClean="0"/>
              <a:t>The additional zeros</a:t>
            </a:r>
          </a:p>
          <a:p>
            <a:pPr lvl="1"/>
            <a:r>
              <a:rPr lang="en-US" dirty="0" smtClean="0"/>
              <a:t>The DC gain</a:t>
            </a:r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6172200" y="2251023"/>
            <a:ext cx="2386965" cy="3364058"/>
            <a:chOff x="3642976" y="2667000"/>
            <a:chExt cx="1929765" cy="2719705"/>
          </a:xfrm>
        </p:grpSpPr>
        <p:pic>
          <p:nvPicPr>
            <p:cNvPr id="4" name="Picture 3" descr="C:\Kjohnson\CSM\Research\Photos and Videos\12301.jpg"/>
            <p:cNvPicPr/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965" t="5770" r="-1" b="17308"/>
            <a:stretch/>
          </p:blipFill>
          <p:spPr bwMode="auto">
            <a:xfrm>
              <a:off x="3642976" y="2667000"/>
              <a:ext cx="1929765" cy="2719705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grpSp>
          <p:nvGrpSpPr>
            <p:cNvPr id="5" name="Group 4"/>
            <p:cNvGrpSpPr/>
            <p:nvPr/>
          </p:nvGrpSpPr>
          <p:grpSpPr>
            <a:xfrm>
              <a:off x="4073842" y="2922270"/>
              <a:ext cx="996315" cy="1013460"/>
              <a:chOff x="0" y="0"/>
              <a:chExt cx="996461" cy="1013900"/>
            </a:xfrm>
          </p:grpSpPr>
          <p:sp>
            <p:nvSpPr>
              <p:cNvPr id="6" name="Arc 5"/>
              <p:cNvSpPr/>
              <p:nvPr/>
            </p:nvSpPr>
            <p:spPr>
              <a:xfrm>
                <a:off x="152400" y="0"/>
                <a:ext cx="844061" cy="844061"/>
              </a:xfrm>
              <a:prstGeom prst="arc">
                <a:avLst/>
              </a:prstGeom>
              <a:ln>
                <a:headEnd type="none"/>
                <a:tailEnd type="triangle"/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7" name="Arc 6"/>
              <p:cNvSpPr/>
              <p:nvPr/>
            </p:nvSpPr>
            <p:spPr>
              <a:xfrm rot="10800000">
                <a:off x="0" y="169985"/>
                <a:ext cx="843915" cy="843915"/>
              </a:xfrm>
              <a:prstGeom prst="arc">
                <a:avLst/>
              </a:prstGeom>
              <a:ln>
                <a:headEnd type="none"/>
                <a:tailEnd type="triangle"/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  <p:graphicFrame>
          <p:nvGraphicFramePr>
            <p:cNvPr id="8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0827407"/>
                </p:ext>
              </p:extLst>
            </p:nvPr>
          </p:nvGraphicFramePr>
          <p:xfrm>
            <a:off x="4977288" y="2837338"/>
            <a:ext cx="185738" cy="169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6" name="Equation" r:id="rId4" imgW="152280" imgH="139680" progId="Equation.3">
                    <p:embed/>
                  </p:oleObj>
                </mc:Choice>
                <mc:Fallback>
                  <p:oleObj name="Equation" r:id="rId4" imgW="1522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7288" y="2837338"/>
                          <a:ext cx="185738" cy="1698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27262"/>
              </p:ext>
            </p:extLst>
          </p:nvPr>
        </p:nvGraphicFramePr>
        <p:xfrm>
          <a:off x="838199" y="3276600"/>
          <a:ext cx="4404643" cy="759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" name="Equation" r:id="rId6" imgW="2552700" imgH="444500" progId="Equation.3">
                  <p:embed/>
                </p:oleObj>
              </mc:Choice>
              <mc:Fallback>
                <p:oleObj name="Equation" r:id="rId6" imgW="25527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199" y="3276600"/>
                        <a:ext cx="4404643" cy="7595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2145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Ungraded clicker quiz: higher order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Given the system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which one (or none) of the following is an acceptable approximation using our dominant pole rules of thumb?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4267200"/>
            <a:ext cx="7924800" cy="1938992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algn="l">
              <a:lnSpc>
                <a:spcPct val="250000"/>
              </a:lnSpc>
            </a:pPr>
            <a:r>
              <a:rPr lang="en-US" b="0" dirty="0" smtClean="0">
                <a:latin typeface="+mn-lt"/>
              </a:rPr>
              <a:t>A)</a:t>
            </a:r>
          </a:p>
          <a:p>
            <a:pPr algn="l">
              <a:lnSpc>
                <a:spcPct val="250000"/>
              </a:lnSpc>
            </a:pPr>
            <a:r>
              <a:rPr lang="en-US" b="0" dirty="0" smtClean="0">
                <a:latin typeface="+mn-lt"/>
              </a:rPr>
              <a:t>B)</a:t>
            </a:r>
          </a:p>
          <a:p>
            <a:pPr algn="l">
              <a:lnSpc>
                <a:spcPct val="250000"/>
              </a:lnSpc>
            </a:pPr>
            <a:r>
              <a:rPr lang="en-US" b="0" dirty="0" smtClean="0">
                <a:latin typeface="+mn-lt"/>
              </a:rPr>
              <a:t>C)</a:t>
            </a:r>
          </a:p>
          <a:p>
            <a:pPr algn="l">
              <a:lnSpc>
                <a:spcPct val="250000"/>
              </a:lnSpc>
            </a:pPr>
            <a:r>
              <a:rPr lang="en-US" b="0" dirty="0" smtClean="0">
                <a:latin typeface="+mn-lt"/>
              </a:rPr>
              <a:t>D) None of the above</a:t>
            </a:r>
            <a:endParaRPr lang="en-US" b="0" dirty="0">
              <a:latin typeface="+mn-lt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3137283"/>
              </p:ext>
            </p:extLst>
          </p:nvPr>
        </p:nvGraphicFramePr>
        <p:xfrm>
          <a:off x="3025775" y="1600200"/>
          <a:ext cx="2741613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Equation" r:id="rId3" imgW="1320480" imgH="419040" progId="Equation.3">
                  <p:embed/>
                </p:oleObj>
              </mc:Choice>
              <mc:Fallback>
                <p:oleObj name="Equation" r:id="rId3" imgW="132048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5775" y="1600200"/>
                        <a:ext cx="2741613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033335"/>
              </p:ext>
            </p:extLst>
          </p:nvPr>
        </p:nvGraphicFramePr>
        <p:xfrm>
          <a:off x="4953000" y="4535487"/>
          <a:ext cx="2346325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Equation" r:id="rId5" imgW="1130040" imgH="419040" progId="Equation.3">
                  <p:embed/>
                </p:oleObj>
              </mc:Choice>
              <mc:Fallback>
                <p:oleObj name="Equation" r:id="rId5" imgW="11300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535487"/>
                        <a:ext cx="2346325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6568996"/>
              </p:ext>
            </p:extLst>
          </p:nvPr>
        </p:nvGraphicFramePr>
        <p:xfrm>
          <a:off x="1006475" y="4535488"/>
          <a:ext cx="2346325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Equation" r:id="rId7" imgW="1130040" imgH="419040" progId="Equation.3">
                  <p:embed/>
                </p:oleObj>
              </mc:Choice>
              <mc:Fallback>
                <p:oleObj name="Equation" r:id="rId7" imgW="11300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475" y="4535488"/>
                        <a:ext cx="2346325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815661"/>
              </p:ext>
            </p:extLst>
          </p:nvPr>
        </p:nvGraphicFramePr>
        <p:xfrm>
          <a:off x="1001713" y="5449888"/>
          <a:ext cx="2503487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Equation" r:id="rId9" imgW="1206360" imgH="419040" progId="Equation.3">
                  <p:embed/>
                </p:oleObj>
              </mc:Choice>
              <mc:Fallback>
                <p:oleObj name="Equation" r:id="rId9" imgW="12063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713" y="5449888"/>
                        <a:ext cx="2503487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0669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teaching techniques help you learn best?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93" t="6253" r="957" b="9800"/>
          <a:stretch/>
        </p:blipFill>
        <p:spPr bwMode="auto">
          <a:xfrm>
            <a:off x="685800" y="1295400"/>
            <a:ext cx="7763069" cy="51153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23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kjohnson\AppData\Local\Microsoft\Windows\Temporary Internet Files\Content.IE5\KE88DTPP\75288586_aa37454462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105400"/>
            <a:ext cx="1371514" cy="1371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(In)stability: SpaceX Falcon 9 Crash Landing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1143000"/>
            <a:ext cx="8382000" cy="3581400"/>
          </a:xfrm>
          <a:prstGeom prst="wedgeRoundRectCallou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0" dirty="0" smtClean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76400" y="5867400"/>
            <a:ext cx="7239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r"/>
            <a:r>
              <a:rPr lang="en-US" sz="1400" b="0" dirty="0">
                <a:latin typeface="Arial" panose="020B0604020202020204" pitchFamily="34" charset="0"/>
                <a:cs typeface="Arial" panose="020B0604020202020204" pitchFamily="34" charset="0"/>
              </a:rPr>
              <a:t>http://www.wired.com/2015/04/analysis-falcon-9-crash-landing/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609600" y="1143001"/>
            <a:ext cx="8382000" cy="3581399"/>
          </a:xfrm>
          <a:prstGeom prst="wedgeRoundRectCallout">
            <a:avLst>
              <a:gd name="adj1" fmla="val -39825"/>
              <a:gd name="adj2" fmla="val 66118"/>
              <a:gd name="adj3" fmla="val 16667"/>
            </a:avLst>
          </a:prstGeom>
          <a:noFill/>
          <a:ln w="19050" cap="flat" cmpd="sng" algn="ctr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3" name="BhMSzC1crr0"/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481667" y="1219200"/>
            <a:ext cx="6062133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984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CSM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1_CS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CS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S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 Notes</Template>
  <TotalTime>8096</TotalTime>
  <Pages>21</Pages>
  <Words>137</Words>
  <Application>Microsoft Office PowerPoint</Application>
  <PresentationFormat>On-screen Show (4:3)</PresentationFormat>
  <Paragraphs>22</Paragraphs>
  <Slides>5</Slides>
  <Notes>1</Notes>
  <HiddenSlides>0</HiddenSlides>
  <MMClips>1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1_CSM</vt:lpstr>
      <vt:lpstr>Equation</vt:lpstr>
      <vt:lpstr>Lecture 14: Higher Order System Response</vt:lpstr>
      <vt:lpstr>Matlab demo, part 2: wind turbine rotational speed</vt:lpstr>
      <vt:lpstr>Ungraded clicker quiz: higher order systems</vt:lpstr>
      <vt:lpstr>What teaching techniques help you learn best?</vt:lpstr>
      <vt:lpstr>(In)stability: SpaceX Falcon 9 Crash Landing</vt:lpstr>
    </vt:vector>
  </TitlesOfParts>
  <Company>Colorado School of Mines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EGGN 407 Introduction to Feedback Control</dc:title>
  <cp:lastModifiedBy>Kathryn Johnson</cp:lastModifiedBy>
  <cp:revision>212</cp:revision>
  <cp:lastPrinted>2017-10-03T17:10:41Z</cp:lastPrinted>
  <dcterms:created xsi:type="dcterms:W3CDTF">2004-08-03T22:49:26Z</dcterms:created>
  <dcterms:modified xsi:type="dcterms:W3CDTF">2017-10-12T02:17:05Z</dcterms:modified>
</cp:coreProperties>
</file>