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2866D6"/>
    <a:srgbClr val="7518E6"/>
    <a:srgbClr val="F707E0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84" autoAdjust="0"/>
    <p:restoredTop sz="94704" autoAdjust="0"/>
  </p:normalViewPr>
  <p:slideViewPr>
    <p:cSldViewPr>
      <p:cViewPr varScale="1">
        <p:scale>
          <a:sx n="82" d="100"/>
          <a:sy n="82" d="100"/>
        </p:scale>
        <p:origin x="-1392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notes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6713" y="530225"/>
            <a:ext cx="3492500" cy="2619375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</a:t>
            </a: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: </a:t>
            </a: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00213"/>
            <a:ext cx="7772400" cy="1303337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Lecture </a:t>
            </a:r>
            <a:r>
              <a:rPr lang="en-US" sz="3200" dirty="0" smtClean="0">
                <a:solidFill>
                  <a:schemeClr val="tx1"/>
                </a:solidFill>
              </a:rPr>
              <a:t>29: </a:t>
            </a:r>
            <a:r>
              <a:rPr lang="en-US" sz="3200" dirty="0" smtClean="0">
                <a:solidFill>
                  <a:schemeClr val="tx1"/>
                </a:solidFill>
              </a:rPr>
              <a:t>Nyquist Stability </a:t>
            </a:r>
            <a:r>
              <a:rPr lang="en-US" sz="3200" dirty="0" smtClean="0">
                <a:solidFill>
                  <a:schemeClr val="tx1"/>
                </a:solidFill>
              </a:rPr>
              <a:t>Analysis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 to Feedback Control Systems</a:t>
            </a:r>
          </a:p>
          <a:p>
            <a:r>
              <a:rPr lang="en-US" dirty="0" smtClean="0"/>
              <a:t>Section D (Johnson)</a:t>
            </a:r>
          </a:p>
          <a:p>
            <a:r>
              <a:rPr lang="en-US" dirty="0" smtClean="0"/>
              <a:t>Fall 2016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smtClean="0"/>
              <a:t>has a pole on the imaginary axis?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Assume a simple case: </a:t>
            </a:r>
          </a:p>
          <a:p>
            <a:endParaRPr lang="en-US" dirty="0"/>
          </a:p>
          <a:p>
            <a:r>
              <a:rPr lang="en-US" dirty="0" smtClean="0"/>
              <a:t>What are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)|</a:t>
            </a:r>
            <a:r>
              <a:rPr lang="en-US" dirty="0" smtClean="0"/>
              <a:t> and </a:t>
            </a:r>
            <a:r>
              <a:rPr lang="en-US" dirty="0" smtClean="0">
                <a:sym typeface="Symbol"/>
              </a:rPr>
              <a:t>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>
                <a:sym typeface="Symbol"/>
              </a:rPr>
              <a:t> for 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307689"/>
              </p:ext>
            </p:extLst>
          </p:nvPr>
        </p:nvGraphicFramePr>
        <p:xfrm>
          <a:off x="4112266" y="960438"/>
          <a:ext cx="1221734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Equation" r:id="rId3" imgW="545760" imgH="393480" progId="Equation.3">
                  <p:embed/>
                </p:oleObj>
              </mc:Choice>
              <mc:Fallback>
                <p:oleObj name="Equation" r:id="rId3" imgW="545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2266" y="960438"/>
                        <a:ext cx="1221734" cy="8683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398225"/>
              </p:ext>
            </p:extLst>
          </p:nvPr>
        </p:nvGraphicFramePr>
        <p:xfrm>
          <a:off x="4876800" y="2057400"/>
          <a:ext cx="1647825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5" imgW="736560" imgH="685800" progId="Equation.3">
                  <p:embed/>
                </p:oleObj>
              </mc:Choice>
              <mc:Fallback>
                <p:oleObj name="Equation" r:id="rId5" imgW="73656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057400"/>
                        <a:ext cx="1647825" cy="151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533400" y="3962400"/>
            <a:ext cx="2514600" cy="2362200"/>
            <a:chOff x="914400" y="3276600"/>
            <a:chExt cx="2514600" cy="2362200"/>
          </a:xfrm>
        </p:grpSpPr>
        <p:cxnSp>
          <p:nvCxnSpPr>
            <p:cNvPr id="7" name="Straight Connector 6"/>
            <p:cNvCxnSpPr/>
            <p:nvPr/>
          </p:nvCxnSpPr>
          <p:spPr bwMode="auto">
            <a:xfrm>
              <a:off x="2133600" y="3276600"/>
              <a:ext cx="0" cy="2362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 bwMode="auto">
            <a:xfrm flipH="1">
              <a:off x="914400" y="4419600"/>
              <a:ext cx="25146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2819400" y="48006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 smtClean="0"/>
              <a:t>Re(</a:t>
            </a:r>
            <a:r>
              <a:rPr lang="en-US" sz="1800" b="0" i="1" dirty="0" smtClean="0"/>
              <a:t>s</a:t>
            </a:r>
            <a:r>
              <a:rPr lang="en-US" sz="1800" b="0" dirty="0" smtClean="0"/>
              <a:t>)</a:t>
            </a:r>
            <a:endParaRPr lang="en-US" sz="1800" b="0" dirty="0"/>
          </a:p>
        </p:txBody>
      </p:sp>
      <p:sp>
        <p:nvSpPr>
          <p:cNvPr id="12" name="TextBox 11"/>
          <p:cNvSpPr txBox="1"/>
          <p:nvPr/>
        </p:nvSpPr>
        <p:spPr>
          <a:xfrm>
            <a:off x="1409700" y="35930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 err="1" smtClean="0"/>
              <a:t>Im</a:t>
            </a:r>
            <a:r>
              <a:rPr lang="en-US" sz="1800" b="0" dirty="0" smtClean="0"/>
              <a:t>(</a:t>
            </a:r>
            <a:r>
              <a:rPr lang="en-US" sz="1800" b="0" i="1" dirty="0" smtClean="0"/>
              <a:t>s</a:t>
            </a:r>
            <a:r>
              <a:rPr lang="en-US" sz="1800" b="0" dirty="0" smtClean="0"/>
              <a:t>)</a:t>
            </a:r>
            <a:endParaRPr lang="en-US" sz="1800" b="0" dirty="0"/>
          </a:p>
        </p:txBody>
      </p:sp>
      <p:sp>
        <p:nvSpPr>
          <p:cNvPr id="13" name="Oval 12"/>
          <p:cNvSpPr/>
          <p:nvPr/>
        </p:nvSpPr>
        <p:spPr bwMode="auto">
          <a:xfrm>
            <a:off x="1690736" y="5105400"/>
            <a:ext cx="138064" cy="121359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1766936" y="5060241"/>
            <a:ext cx="138064" cy="121359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6172200" y="2743200"/>
            <a:ext cx="138064" cy="121359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6553200" y="2209800"/>
            <a:ext cx="138064" cy="121359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1690736" y="4984041"/>
            <a:ext cx="138064" cy="121359"/>
          </a:xfrm>
          <a:prstGeom prst="ellipse">
            <a:avLst/>
          </a:prstGeom>
          <a:solidFill>
            <a:srgbClr val="7518E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6332676" y="3237442"/>
            <a:ext cx="138064" cy="121359"/>
          </a:xfrm>
          <a:prstGeom prst="ellipse">
            <a:avLst/>
          </a:prstGeom>
          <a:solidFill>
            <a:srgbClr val="7518E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486400" y="3962400"/>
            <a:ext cx="2514600" cy="2362200"/>
            <a:chOff x="914400" y="3276600"/>
            <a:chExt cx="2514600" cy="2362200"/>
          </a:xfrm>
        </p:grpSpPr>
        <p:cxnSp>
          <p:nvCxnSpPr>
            <p:cNvPr id="20" name="Straight Connector 19"/>
            <p:cNvCxnSpPr/>
            <p:nvPr/>
          </p:nvCxnSpPr>
          <p:spPr bwMode="auto">
            <a:xfrm>
              <a:off x="2133600" y="3276600"/>
              <a:ext cx="0" cy="236220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 flipH="1">
              <a:off x="914400" y="4419600"/>
              <a:ext cx="25146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7772400" y="4800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 smtClean="0"/>
              <a:t>Re(</a:t>
            </a:r>
            <a:r>
              <a:rPr lang="en-US" sz="1800" b="0" i="1" dirty="0" smtClean="0"/>
              <a:t>L</a:t>
            </a:r>
            <a:r>
              <a:rPr lang="en-US" sz="1800" b="0" dirty="0" smtClean="0"/>
              <a:t>(</a:t>
            </a:r>
            <a:r>
              <a:rPr lang="en-US" sz="1800" b="0" i="1" dirty="0" smtClean="0"/>
              <a:t>s</a:t>
            </a:r>
            <a:r>
              <a:rPr lang="en-US" sz="1800" b="0" dirty="0" smtClean="0"/>
              <a:t>))</a:t>
            </a:r>
            <a:endParaRPr lang="en-US" sz="1800" b="0" dirty="0"/>
          </a:p>
        </p:txBody>
      </p:sp>
      <p:sp>
        <p:nvSpPr>
          <p:cNvPr id="23" name="TextBox 22"/>
          <p:cNvSpPr txBox="1"/>
          <p:nvPr/>
        </p:nvSpPr>
        <p:spPr>
          <a:xfrm>
            <a:off x="6172200" y="359306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 err="1" smtClean="0"/>
              <a:t>Im</a:t>
            </a:r>
            <a:r>
              <a:rPr lang="en-US" sz="1800" b="0" dirty="0" smtClean="0"/>
              <a:t>(</a:t>
            </a:r>
            <a:r>
              <a:rPr lang="en-US" sz="1800" b="0" i="1" dirty="0" smtClean="0"/>
              <a:t>L</a:t>
            </a:r>
            <a:r>
              <a:rPr lang="en-US" sz="1800" b="0" dirty="0" smtClean="0"/>
              <a:t>(</a:t>
            </a:r>
            <a:r>
              <a:rPr lang="en-US" sz="1800" b="0" i="1" dirty="0" smtClean="0"/>
              <a:t>s</a:t>
            </a:r>
            <a:r>
              <a:rPr lang="en-US" sz="1800" b="0" dirty="0" smtClean="0"/>
              <a:t>))</a:t>
            </a:r>
            <a:endParaRPr lang="en-US" sz="1800" b="0" dirty="0"/>
          </a:p>
        </p:txBody>
      </p:sp>
      <p:sp>
        <p:nvSpPr>
          <p:cNvPr id="24" name="TextBox 23"/>
          <p:cNvSpPr txBox="1"/>
          <p:nvPr/>
        </p:nvSpPr>
        <p:spPr>
          <a:xfrm>
            <a:off x="2202632" y="6096000"/>
            <a:ext cx="4121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latin typeface="+mn-lt"/>
              </a:rPr>
              <a:t>Note: plots have different scales</a:t>
            </a:r>
            <a:endParaRPr lang="en-US" sz="2000" b="0" dirty="0">
              <a:latin typeface="+mn-lt"/>
            </a:endParaRPr>
          </a:p>
        </p:txBody>
      </p:sp>
      <p:sp>
        <p:nvSpPr>
          <p:cNvPr id="25" name="Oval 24"/>
          <p:cNvSpPr/>
          <p:nvPr/>
        </p:nvSpPr>
        <p:spPr bwMode="auto">
          <a:xfrm>
            <a:off x="6636568" y="3964808"/>
            <a:ext cx="138064" cy="121359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7862936" y="5067132"/>
            <a:ext cx="138064" cy="121359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7" name="Oval 26"/>
          <p:cNvSpPr/>
          <p:nvPr/>
        </p:nvSpPr>
        <p:spPr bwMode="auto">
          <a:xfrm>
            <a:off x="6636568" y="6203241"/>
            <a:ext cx="138064" cy="121359"/>
          </a:xfrm>
          <a:prstGeom prst="ellipse">
            <a:avLst/>
          </a:prstGeom>
          <a:solidFill>
            <a:srgbClr val="7518E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124363"/>
              </p:ext>
            </p:extLst>
          </p:nvPr>
        </p:nvGraphicFramePr>
        <p:xfrm>
          <a:off x="6829425" y="3960813"/>
          <a:ext cx="790575" cy="276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Equation" r:id="rId7" imgW="571320" imgH="203040" progId="Equation.3">
                  <p:embed/>
                </p:oleObj>
              </mc:Choice>
              <mc:Fallback>
                <p:oleObj name="Equation" r:id="rId7" imgW="5713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9425" y="3960813"/>
                        <a:ext cx="790575" cy="2766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645720"/>
              </p:ext>
            </p:extLst>
          </p:nvPr>
        </p:nvGraphicFramePr>
        <p:xfrm>
          <a:off x="8024813" y="5165725"/>
          <a:ext cx="6858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Equation" r:id="rId9" imgW="495000" imgH="203040" progId="Equation.3">
                  <p:embed/>
                </p:oleObj>
              </mc:Choice>
              <mc:Fallback>
                <p:oleObj name="Equation" r:id="rId9" imgW="495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4813" y="5165725"/>
                        <a:ext cx="68580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786860"/>
              </p:ext>
            </p:extLst>
          </p:nvPr>
        </p:nvGraphicFramePr>
        <p:xfrm>
          <a:off x="6789738" y="6219825"/>
          <a:ext cx="982662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Equation" r:id="rId11" imgW="711000" imgH="203040" progId="Equation.3">
                  <p:embed/>
                </p:oleObj>
              </mc:Choice>
              <mc:Fallback>
                <p:oleObj name="Equation" r:id="rId11" imgW="711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9738" y="6219825"/>
                        <a:ext cx="982662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461556"/>
              </p:ext>
            </p:extLst>
          </p:nvPr>
        </p:nvGraphicFramePr>
        <p:xfrm>
          <a:off x="1620837" y="4968422"/>
          <a:ext cx="28416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Equation" r:id="rId13" imgW="126720" imgH="126720" progId="Equation.3">
                  <p:embed/>
                </p:oleObj>
              </mc:Choice>
              <mc:Fallback>
                <p:oleObj name="Equation" r:id="rId13" imgW="126720" imgH="126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7" y="4968422"/>
                        <a:ext cx="28416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179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4" grpId="0"/>
      <p:bldP spid="25" grpId="0" animBg="1"/>
      <p:bldP spid="26" grpId="0" animBg="1"/>
      <p:bldP spid="27" grpId="0" animBg="1"/>
    </p:bldLst>
  </p:timing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6462</TotalTime>
  <Pages>21</Pages>
  <Words>59</Words>
  <Application>Microsoft Office PowerPoint</Application>
  <PresentationFormat>On-screen Show (4:3)</PresentationFormat>
  <Paragraphs>13</Paragraphs>
  <Slides>2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1_CSM</vt:lpstr>
      <vt:lpstr>Equation</vt:lpstr>
      <vt:lpstr>Lecture 29: Nyquist Stability Analysis</vt:lpstr>
      <vt:lpstr>What if L(s) has a pole on the imaginary axis?</vt:lpstr>
    </vt:vector>
  </TitlesOfParts>
  <Company>Colorado School of Mines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cp:lastModifiedBy>Kathryn Johnson</cp:lastModifiedBy>
  <cp:revision>200</cp:revision>
  <cp:lastPrinted>2011-01-12T15:38:30Z</cp:lastPrinted>
  <dcterms:created xsi:type="dcterms:W3CDTF">2004-08-03T22:49:26Z</dcterms:created>
  <dcterms:modified xsi:type="dcterms:W3CDTF">2017-11-12T17:56:01Z</dcterms:modified>
</cp:coreProperties>
</file>