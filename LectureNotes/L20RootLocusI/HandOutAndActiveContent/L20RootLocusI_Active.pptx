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20: Introduction to Root Locus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Proportional control of a water tank (2)</a:t>
            </a:r>
            <a:endParaRPr lang="en-US" dirty="0"/>
          </a:p>
        </p:txBody>
      </p:sp>
      <p:grpSp>
        <p:nvGrpSpPr>
          <p:cNvPr id="6163" name="Group 6162"/>
          <p:cNvGrpSpPr/>
          <p:nvPr/>
        </p:nvGrpSpPr>
        <p:grpSpPr>
          <a:xfrm>
            <a:off x="7486775" y="2597943"/>
            <a:ext cx="971425" cy="1516857"/>
            <a:chOff x="7486775" y="2597943"/>
            <a:chExt cx="971425" cy="1516857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8458200" y="2597943"/>
              <a:ext cx="0" cy="1516857"/>
            </a:xfrm>
            <a:prstGeom prst="straightConnector1">
              <a:avLst/>
            </a:prstGeom>
            <a:ln>
              <a:headEnd type="none" w="med" len="med"/>
              <a:tailEnd type="none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22" idx="3"/>
            </p:cNvCxnSpPr>
            <p:nvPr/>
          </p:nvCxnSpPr>
          <p:spPr bwMode="auto">
            <a:xfrm flipH="1">
              <a:off x="7486775" y="4114800"/>
              <a:ext cx="971425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62" name="Group 6161"/>
          <p:cNvGrpSpPr/>
          <p:nvPr/>
        </p:nvGrpSpPr>
        <p:grpSpPr>
          <a:xfrm>
            <a:off x="6398186" y="3619500"/>
            <a:ext cx="1145614" cy="1613475"/>
            <a:chOff x="6398186" y="3619500"/>
            <a:chExt cx="1145614" cy="161347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506386" y="36195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98186" y="4648200"/>
              <a:ext cx="11456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Sensor (physical)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46" name="Picture 2" descr="Fuel/Water Level sensor S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6899" y="3733800"/>
              <a:ext cx="839194" cy="839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1" name="Group 6160"/>
          <p:cNvGrpSpPr/>
          <p:nvPr/>
        </p:nvGrpSpPr>
        <p:grpSpPr>
          <a:xfrm>
            <a:off x="4561790" y="3505200"/>
            <a:ext cx="1944596" cy="615553"/>
            <a:chOff x="4561790" y="3505200"/>
            <a:chExt cx="1944596" cy="615553"/>
          </a:xfrm>
        </p:grpSpPr>
        <p:cxnSp>
          <p:nvCxnSpPr>
            <p:cNvPr id="26" name="Straight Arrow Connector 25"/>
            <p:cNvCxnSpPr/>
            <p:nvPr/>
          </p:nvCxnSpPr>
          <p:spPr bwMode="auto">
            <a:xfrm flipH="1">
              <a:off x="4561790" y="4114800"/>
              <a:ext cx="194459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029200" y="3505200"/>
              <a:ext cx="124858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v</a:t>
              </a:r>
              <a:r>
                <a:rPr lang="en-US" sz="1800" b="0" i="1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(physical)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6156" name="Group 6155"/>
          <p:cNvGrpSpPr/>
          <p:nvPr/>
        </p:nvGrpSpPr>
        <p:grpSpPr>
          <a:xfrm>
            <a:off x="1941230" y="1472625"/>
            <a:ext cx="1259170" cy="1575375"/>
            <a:chOff x="1941230" y="1472625"/>
            <a:chExt cx="1259170" cy="1575375"/>
          </a:xfrm>
        </p:grpSpPr>
        <p:sp>
          <p:nvSpPr>
            <p:cNvPr id="55" name="Rectangle 54"/>
            <p:cNvSpPr/>
            <p:nvPr/>
          </p:nvSpPr>
          <p:spPr bwMode="auto">
            <a:xfrm>
              <a:off x="205740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57400" y="2362200"/>
              <a:ext cx="99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cs typeface="Times New Roman" panose="02020603050405020304" pitchFamily="18" charset="0"/>
                </a:rPr>
                <a:t>C</a:t>
              </a:r>
              <a:r>
                <a:rPr lang="en-US" sz="1800" b="0" dirty="0" smtClean="0"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cs typeface="Times New Roman" panose="02020603050405020304" pitchFamily="18" charset="0"/>
                </a:rPr>
                <a:t>)</a:t>
              </a:r>
              <a:endParaRPr lang="en-US" sz="1600" b="0" dirty="0"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941230" y="1472625"/>
              <a:ext cx="12591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Controller (digital)</a:t>
              </a:r>
              <a:endParaRPr lang="en-US" sz="1600" b="0" dirty="0">
                <a:latin typeface="+mn-lt"/>
              </a:endParaRPr>
            </a:p>
          </p:txBody>
        </p:sp>
      </p:grpSp>
      <p:grpSp>
        <p:nvGrpSpPr>
          <p:cNvPr id="6155" name="Group 6154"/>
          <p:cNvGrpSpPr/>
          <p:nvPr/>
        </p:nvGrpSpPr>
        <p:grpSpPr>
          <a:xfrm>
            <a:off x="2951007" y="992071"/>
            <a:ext cx="1066800" cy="1598729"/>
            <a:chOff x="2951007" y="992071"/>
            <a:chExt cx="1066800" cy="1598729"/>
          </a:xfrm>
        </p:grpSpPr>
        <p:cxnSp>
          <p:nvCxnSpPr>
            <p:cNvPr id="79" name="Straight Arrow Connector 78"/>
            <p:cNvCxnSpPr/>
            <p:nvPr/>
          </p:nvCxnSpPr>
          <p:spPr bwMode="auto">
            <a:xfrm>
              <a:off x="3037790" y="2590799"/>
              <a:ext cx="543611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2951007" y="992071"/>
              <a:ext cx="10668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(digital)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cxnSp>
          <p:nvCxnSpPr>
            <p:cNvPr id="89" name="Curved Connector 88"/>
            <p:cNvCxnSpPr>
              <a:stCxn id="88" idx="2"/>
            </p:cNvCxnSpPr>
            <p:nvPr/>
          </p:nvCxnSpPr>
          <p:spPr bwMode="auto">
            <a:xfrm rot="5400000">
              <a:off x="2981613" y="1935606"/>
              <a:ext cx="830776" cy="174812"/>
            </a:xfrm>
            <a:prstGeom prst="curvedConnector3">
              <a:avLst/>
            </a:prstGeom>
            <a:ln>
              <a:prstDash val="sysDash"/>
              <a:headEnd type="none" w="med" len="med"/>
              <a:tailEnd type="arrow"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53" name="Group 6152"/>
          <p:cNvGrpSpPr/>
          <p:nvPr/>
        </p:nvGrpSpPr>
        <p:grpSpPr>
          <a:xfrm>
            <a:off x="4114800" y="990600"/>
            <a:ext cx="1066800" cy="1589678"/>
            <a:chOff x="4114800" y="990600"/>
            <a:chExt cx="1066800" cy="1589678"/>
          </a:xfrm>
        </p:grpSpPr>
        <p:sp>
          <p:nvSpPr>
            <p:cNvPr id="73" name="TextBox 72"/>
            <p:cNvSpPr txBox="1"/>
            <p:nvPr/>
          </p:nvSpPr>
          <p:spPr>
            <a:xfrm>
              <a:off x="4114800" y="990600"/>
              <a:ext cx="10668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v</a:t>
              </a:r>
              <a:r>
                <a:rPr lang="en-US" sz="1800" b="0" i="1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(physical)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cxnSp>
          <p:nvCxnSpPr>
            <p:cNvPr id="82" name="Straight Arrow Connector 81"/>
            <p:cNvCxnSpPr/>
            <p:nvPr/>
          </p:nvCxnSpPr>
          <p:spPr bwMode="auto">
            <a:xfrm>
              <a:off x="4561790" y="2580277"/>
              <a:ext cx="543611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urved Connector 90"/>
            <p:cNvCxnSpPr/>
            <p:nvPr/>
          </p:nvCxnSpPr>
          <p:spPr bwMode="auto">
            <a:xfrm rot="16200000" flipH="1">
              <a:off x="4320218" y="1969994"/>
              <a:ext cx="830776" cy="174812"/>
            </a:xfrm>
            <a:prstGeom prst="curvedConnector3">
              <a:avLst/>
            </a:prstGeom>
            <a:ln>
              <a:prstDash val="sysDash"/>
              <a:headEnd type="none" w="med" len="med"/>
              <a:tailEnd type="arrow"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65" name="Group 6164"/>
          <p:cNvGrpSpPr/>
          <p:nvPr/>
        </p:nvGrpSpPr>
        <p:grpSpPr>
          <a:xfrm>
            <a:off x="5638800" y="914400"/>
            <a:ext cx="3352800" cy="2376486"/>
            <a:chOff x="5638800" y="914400"/>
            <a:chExt cx="3352800" cy="2376486"/>
          </a:xfrm>
        </p:grpSpPr>
        <p:grpSp>
          <p:nvGrpSpPr>
            <p:cNvPr id="6149" name="Group 6148"/>
            <p:cNvGrpSpPr/>
            <p:nvPr/>
          </p:nvGrpSpPr>
          <p:grpSpPr>
            <a:xfrm>
              <a:off x="6629400" y="1295400"/>
              <a:ext cx="1371600" cy="1995486"/>
              <a:chOff x="6629400" y="1295400"/>
              <a:chExt cx="1371600" cy="1995486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6629400" y="1905000"/>
                <a:ext cx="1371600" cy="138588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3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059" t="19827" r="14529" b="15580"/>
              <a:stretch/>
            </p:blipFill>
            <p:spPr bwMode="auto">
              <a:xfrm>
                <a:off x="6705600" y="2235823"/>
                <a:ext cx="1219200" cy="724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6629400" y="1295400"/>
                <a:ext cx="1371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 smtClean="0">
                    <a:latin typeface="+mn-lt"/>
                  </a:rPr>
                  <a:t>Plant (physical)</a:t>
                </a:r>
                <a:endParaRPr lang="en-US" sz="1600" b="0" dirty="0">
                  <a:latin typeface="+mn-lt"/>
                </a:endParaRPr>
              </a:p>
            </p:txBody>
          </p:sp>
        </p:grpSp>
        <p:grpSp>
          <p:nvGrpSpPr>
            <p:cNvPr id="6147" name="Group 6146"/>
            <p:cNvGrpSpPr/>
            <p:nvPr/>
          </p:nvGrpSpPr>
          <p:grpSpPr>
            <a:xfrm>
              <a:off x="7924800" y="1981200"/>
              <a:ext cx="1066800" cy="616743"/>
              <a:chOff x="7924800" y="1981200"/>
              <a:chExt cx="1066800" cy="616743"/>
            </a:xfrm>
          </p:grpSpPr>
          <p:cxnSp>
            <p:nvCxnSpPr>
              <p:cNvPr id="7" name="Straight Arrow Connector 6"/>
              <p:cNvCxnSpPr/>
              <p:nvPr/>
            </p:nvCxnSpPr>
            <p:spPr bwMode="auto">
              <a:xfrm>
                <a:off x="8001000" y="2597943"/>
                <a:ext cx="990600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7924800" y="1981200"/>
                <a:ext cx="1066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i="1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(physical)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</p:grpSp>
        <p:grpSp>
          <p:nvGrpSpPr>
            <p:cNvPr id="6151" name="Group 6150"/>
            <p:cNvGrpSpPr/>
            <p:nvPr/>
          </p:nvGrpSpPr>
          <p:grpSpPr>
            <a:xfrm>
              <a:off x="5638800" y="914400"/>
              <a:ext cx="1291912" cy="1676400"/>
              <a:chOff x="5638800" y="914400"/>
              <a:chExt cx="1291912" cy="1676400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638800" y="914400"/>
                <a:ext cx="129191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q</a:t>
                </a:r>
                <a:r>
                  <a:rPr lang="en-US" sz="1800" b="0" i="1" baseline="-25000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sz="1800" b="0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(physical)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  <p:cxnSp>
            <p:nvCxnSpPr>
              <p:cNvPr id="83" name="Straight Arrow Connector 82"/>
              <p:cNvCxnSpPr/>
              <p:nvPr/>
            </p:nvCxnSpPr>
            <p:spPr bwMode="auto">
              <a:xfrm>
                <a:off x="6085789" y="2590799"/>
                <a:ext cx="543611" cy="1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Curved Connector 91"/>
              <p:cNvCxnSpPr/>
              <p:nvPr/>
            </p:nvCxnSpPr>
            <p:spPr bwMode="auto">
              <a:xfrm rot="16200000" flipH="1">
                <a:off x="5895392" y="1915769"/>
                <a:ext cx="830776" cy="174812"/>
              </a:xfrm>
              <a:prstGeom prst="curvedConnector3">
                <a:avLst/>
              </a:prstGeom>
              <a:ln>
                <a:prstDash val="sysDash"/>
                <a:headEnd type="none" w="med" len="med"/>
                <a:tailEnd type="arrow"/>
              </a:ln>
              <a:extLst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64" name="Group 6163"/>
          <p:cNvGrpSpPr/>
          <p:nvPr/>
        </p:nvGrpSpPr>
        <p:grpSpPr>
          <a:xfrm>
            <a:off x="152400" y="5486400"/>
            <a:ext cx="8839200" cy="685800"/>
            <a:chOff x="152400" y="5486400"/>
            <a:chExt cx="8839200" cy="685800"/>
          </a:xfrm>
        </p:grpSpPr>
        <p:sp>
          <p:nvSpPr>
            <p:cNvPr id="93" name="Right Arrow 92"/>
            <p:cNvSpPr/>
            <p:nvPr/>
          </p:nvSpPr>
          <p:spPr bwMode="auto">
            <a:xfrm>
              <a:off x="4191000" y="5486400"/>
              <a:ext cx="4800600" cy="685800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181600" y="5660023"/>
              <a:ext cx="2743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Physical systems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97" name="Right Arrow 96"/>
            <p:cNvSpPr/>
            <p:nvPr/>
          </p:nvSpPr>
          <p:spPr bwMode="auto">
            <a:xfrm flipH="1">
              <a:off x="152400" y="5486400"/>
              <a:ext cx="3886200" cy="685800"/>
            </a:xfrm>
            <a:prstGeom prst="rightArrow">
              <a:avLst/>
            </a:prstGeom>
            <a:solidFill>
              <a:srgbClr val="993357"/>
            </a:solidFill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90599" y="5660023"/>
              <a:ext cx="2743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Computer-based systems</a:t>
              </a:r>
              <a:endParaRPr lang="en-US" sz="1600" b="0" dirty="0">
                <a:latin typeface="+mn-lt"/>
              </a:endParaRPr>
            </a:p>
          </p:txBody>
        </p:sp>
      </p:grpSp>
      <p:grpSp>
        <p:nvGrpSpPr>
          <p:cNvPr id="6152" name="Group 6151"/>
          <p:cNvGrpSpPr/>
          <p:nvPr/>
        </p:nvGrpSpPr>
        <p:grpSpPr>
          <a:xfrm>
            <a:off x="5100917" y="1540904"/>
            <a:ext cx="995083" cy="1507096"/>
            <a:chOff x="5100917" y="1540904"/>
            <a:chExt cx="995083" cy="1507096"/>
          </a:xfrm>
        </p:grpSpPr>
        <p:sp>
          <p:nvSpPr>
            <p:cNvPr id="40" name="Rectangle 39"/>
            <p:cNvSpPr/>
            <p:nvPr/>
          </p:nvSpPr>
          <p:spPr bwMode="auto">
            <a:xfrm>
              <a:off x="511561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100917" y="1540904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Valve (physical)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48" name="Picture 4" descr="https://upload.wikimedia.org/wikipedia/commons/thumb/b/b2/Pl_control_valve.jpg/150px-Pl_control_valv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60"/>
            <a:stretch/>
          </p:blipFill>
          <p:spPr bwMode="auto">
            <a:xfrm>
              <a:off x="5234595" y="2130940"/>
              <a:ext cx="745734" cy="844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0" name="Group 6159"/>
          <p:cNvGrpSpPr/>
          <p:nvPr/>
        </p:nvGrpSpPr>
        <p:grpSpPr>
          <a:xfrm>
            <a:off x="3566707" y="3632947"/>
            <a:ext cx="995083" cy="1569250"/>
            <a:chOff x="3566707" y="3632947"/>
            <a:chExt cx="995083" cy="1569250"/>
          </a:xfrm>
        </p:grpSpPr>
        <p:sp>
          <p:nvSpPr>
            <p:cNvPr id="29" name="Rectangle 28"/>
            <p:cNvSpPr/>
            <p:nvPr/>
          </p:nvSpPr>
          <p:spPr bwMode="auto">
            <a:xfrm>
              <a:off x="3581401" y="3632947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66707" y="4678977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A/D </a:t>
              </a:r>
              <a:br>
                <a:rPr lang="en-US" sz="1400" b="0" dirty="0" smtClean="0">
                  <a:latin typeface="+mn-lt"/>
                </a:rPr>
              </a:br>
              <a:r>
                <a:rPr lang="en-US" sz="1400" b="0" dirty="0" smtClean="0">
                  <a:latin typeface="+mn-lt"/>
                </a:rPr>
                <a:t>Converter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50" name="Picture 6" descr="http://www.mouser.com/images/texasinstruments/lrg/TI_VQFN_32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46" t="20906" r="6753" b="19334"/>
            <a:stretch/>
          </p:blipFill>
          <p:spPr bwMode="auto">
            <a:xfrm>
              <a:off x="3667191" y="3810000"/>
              <a:ext cx="857862" cy="619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54" name="Group 6153"/>
          <p:cNvGrpSpPr/>
          <p:nvPr/>
        </p:nvGrpSpPr>
        <p:grpSpPr>
          <a:xfrm>
            <a:off x="3581400" y="1524000"/>
            <a:ext cx="995083" cy="1524000"/>
            <a:chOff x="3581400" y="1524000"/>
            <a:chExt cx="995083" cy="1524000"/>
          </a:xfrm>
        </p:grpSpPr>
        <p:sp>
          <p:nvSpPr>
            <p:cNvPr id="74" name="Rectangle 73"/>
            <p:cNvSpPr/>
            <p:nvPr/>
          </p:nvSpPr>
          <p:spPr bwMode="auto">
            <a:xfrm>
              <a:off x="358140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581400" y="1524000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D/A </a:t>
              </a:r>
              <a:br>
                <a:rPr lang="en-US" sz="1400" b="0" dirty="0" smtClean="0">
                  <a:latin typeface="+mn-lt"/>
                </a:rPr>
              </a:br>
              <a:r>
                <a:rPr lang="en-US" sz="1400" b="0" dirty="0" smtClean="0">
                  <a:latin typeface="+mn-lt"/>
                </a:rPr>
                <a:t>Converter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101" name="Picture 6" descr="http://www.mouser.com/images/texasinstruments/lrg/TI_VQFN_32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46" t="20906" r="6753" b="19334"/>
            <a:stretch/>
          </p:blipFill>
          <p:spPr bwMode="auto">
            <a:xfrm>
              <a:off x="3650010" y="2258445"/>
              <a:ext cx="857862" cy="619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6" name="Group 6165"/>
          <p:cNvGrpSpPr/>
          <p:nvPr/>
        </p:nvGrpSpPr>
        <p:grpSpPr>
          <a:xfrm>
            <a:off x="1219200" y="2819401"/>
            <a:ext cx="2362201" cy="1308846"/>
            <a:chOff x="1219200" y="2819401"/>
            <a:chExt cx="2362201" cy="1308846"/>
          </a:xfrm>
        </p:grpSpPr>
        <p:cxnSp>
          <p:nvCxnSpPr>
            <p:cNvPr id="18" name="Straight Arrow Connector 17"/>
            <p:cNvCxnSpPr>
              <a:stCxn id="29" idx="1"/>
            </p:cNvCxnSpPr>
            <p:nvPr/>
          </p:nvCxnSpPr>
          <p:spPr bwMode="auto">
            <a:xfrm flipH="1">
              <a:off x="1219200" y="4128247"/>
              <a:ext cx="2362201" cy="0"/>
            </a:xfrm>
            <a:prstGeom prst="straightConnector1">
              <a:avLst/>
            </a:prstGeom>
            <a:ln>
              <a:headEnd type="none" w="med" len="med"/>
              <a:tailEnd type="none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 bwMode="auto">
            <a:xfrm flipV="1">
              <a:off x="1219200" y="2819401"/>
              <a:ext cx="0" cy="1308846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41230" y="3505200"/>
              <a:ext cx="124858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sz="1800" b="0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(digital bits)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6167" name="Group 6166"/>
          <p:cNvGrpSpPr/>
          <p:nvPr/>
        </p:nvGrpSpPr>
        <p:grpSpPr>
          <a:xfrm>
            <a:off x="76200" y="1700054"/>
            <a:ext cx="2028013" cy="1367585"/>
            <a:chOff x="76200" y="1700054"/>
            <a:chExt cx="2028013" cy="1367585"/>
          </a:xfrm>
        </p:grpSpPr>
        <p:grpSp>
          <p:nvGrpSpPr>
            <p:cNvPr id="6157" name="Group 6156"/>
            <p:cNvGrpSpPr/>
            <p:nvPr/>
          </p:nvGrpSpPr>
          <p:grpSpPr>
            <a:xfrm>
              <a:off x="1219199" y="1700054"/>
              <a:ext cx="885014" cy="890746"/>
              <a:chOff x="1219199" y="1700054"/>
              <a:chExt cx="885014" cy="890746"/>
            </a:xfrm>
          </p:grpSpPr>
          <p:cxnSp>
            <p:nvCxnSpPr>
              <p:cNvPr id="58" name="Straight Arrow Connector 57"/>
              <p:cNvCxnSpPr/>
              <p:nvPr/>
            </p:nvCxnSpPr>
            <p:spPr bwMode="auto">
              <a:xfrm>
                <a:off x="1447800" y="2590800"/>
                <a:ext cx="609600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1219199" y="1700054"/>
                <a:ext cx="88501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(digital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bits)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</p:grpSp>
        <p:sp>
          <p:nvSpPr>
            <p:cNvPr id="35" name="Oval 34"/>
            <p:cNvSpPr/>
            <p:nvPr/>
          </p:nvSpPr>
          <p:spPr bwMode="auto">
            <a:xfrm>
              <a:off x="990599" y="2357546"/>
              <a:ext cx="457200" cy="44546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6144" name="Straight Connector 6143"/>
            <p:cNvCxnSpPr/>
            <p:nvPr/>
          </p:nvCxnSpPr>
          <p:spPr bwMode="auto">
            <a:xfrm>
              <a:off x="927846" y="3067639"/>
              <a:ext cx="1524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158" name="Group 6157"/>
            <p:cNvGrpSpPr/>
            <p:nvPr/>
          </p:nvGrpSpPr>
          <p:grpSpPr>
            <a:xfrm>
              <a:off x="76200" y="1752600"/>
              <a:ext cx="885014" cy="1066800"/>
              <a:chOff x="76200" y="1752600"/>
              <a:chExt cx="885014" cy="1066800"/>
            </a:xfrm>
          </p:grpSpPr>
          <p:cxnSp>
            <p:nvCxnSpPr>
              <p:cNvPr id="37" name="Straight Arrow Connector 36"/>
              <p:cNvCxnSpPr/>
              <p:nvPr/>
            </p:nvCxnSpPr>
            <p:spPr bwMode="auto">
              <a:xfrm>
                <a:off x="152400" y="2572699"/>
                <a:ext cx="808814" cy="1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76200" y="1752600"/>
                <a:ext cx="88501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sz="1800" b="0" i="1" baseline="-25000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ref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(digital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bits)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  <p:cxnSp>
            <p:nvCxnSpPr>
              <p:cNvPr id="105" name="Straight Connector 104"/>
              <p:cNvCxnSpPr/>
              <p:nvPr/>
            </p:nvCxnSpPr>
            <p:spPr bwMode="auto">
              <a:xfrm>
                <a:off x="609600" y="2742206"/>
                <a:ext cx="1524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6" name="Straight Connector 105"/>
              <p:cNvCxnSpPr/>
              <p:nvPr/>
            </p:nvCxnSpPr>
            <p:spPr bwMode="auto">
              <a:xfrm rot="5400000">
                <a:off x="609600" y="2743200"/>
                <a:ext cx="1524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0477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Proportional control of a water tank - simplified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81000" y="4986754"/>
            <a:ext cx="8382000" cy="1185446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Define the “loop gain” (</a:t>
            </a:r>
            <a:r>
              <a:rPr lang="en-US" b="1" dirty="0" smtClean="0"/>
              <a:t>not</a:t>
            </a:r>
            <a:r>
              <a:rPr lang="en-US" dirty="0" smtClean="0"/>
              <a:t> closed loop gain) as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, i.e., the product of all blocks in the forward and feedback paths.</a:t>
            </a:r>
          </a:p>
          <a:p>
            <a:r>
              <a:rPr lang="en-US" dirty="0" smtClean="0"/>
              <a:t>For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/>
              <a:t> (proportional control), this is the figure on p. 1 on Lecture 20.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6200" y="1566446"/>
            <a:ext cx="8915400" cy="3420308"/>
            <a:chOff x="76200" y="1566446"/>
            <a:chExt cx="8915400" cy="3420308"/>
          </a:xfrm>
        </p:grpSpPr>
        <p:grpSp>
          <p:nvGrpSpPr>
            <p:cNvPr id="6163" name="Group 6162"/>
            <p:cNvGrpSpPr/>
            <p:nvPr/>
          </p:nvGrpSpPr>
          <p:grpSpPr>
            <a:xfrm>
              <a:off x="7486775" y="2597943"/>
              <a:ext cx="971425" cy="1516857"/>
              <a:chOff x="7486775" y="2597943"/>
              <a:chExt cx="971425" cy="1516857"/>
            </a:xfrm>
          </p:grpSpPr>
          <p:cxnSp>
            <p:nvCxnSpPr>
              <p:cNvPr id="15" name="Straight Arrow Connector 14"/>
              <p:cNvCxnSpPr/>
              <p:nvPr/>
            </p:nvCxnSpPr>
            <p:spPr bwMode="auto">
              <a:xfrm>
                <a:off x="8458200" y="2597943"/>
                <a:ext cx="0" cy="1516857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endCxn id="22" idx="3"/>
              </p:cNvCxnSpPr>
              <p:nvPr/>
            </p:nvCxnSpPr>
            <p:spPr bwMode="auto">
              <a:xfrm flipH="1">
                <a:off x="7486775" y="4114800"/>
                <a:ext cx="971425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62" name="Group 6161"/>
            <p:cNvGrpSpPr/>
            <p:nvPr/>
          </p:nvGrpSpPr>
          <p:grpSpPr>
            <a:xfrm>
              <a:off x="6398186" y="3619500"/>
              <a:ext cx="1145614" cy="1367254"/>
              <a:chOff x="6398186" y="3619500"/>
              <a:chExt cx="1145614" cy="1367254"/>
            </a:xfrm>
          </p:grpSpPr>
          <p:sp>
            <p:nvSpPr>
              <p:cNvPr id="22" name="Rectangle 21"/>
              <p:cNvSpPr/>
              <p:nvPr/>
            </p:nvSpPr>
            <p:spPr bwMode="auto">
              <a:xfrm>
                <a:off x="6506386" y="3619500"/>
                <a:ext cx="980389" cy="990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98186" y="4648200"/>
                <a:ext cx="11456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 smtClean="0">
                    <a:latin typeface="+mn-lt"/>
                  </a:rPr>
                  <a:t>Sensor</a:t>
                </a:r>
                <a:endParaRPr lang="en-US" sz="1600" b="0" dirty="0">
                  <a:latin typeface="+mn-lt"/>
                </a:endParaRPr>
              </a:p>
            </p:txBody>
          </p:sp>
          <p:pic>
            <p:nvPicPr>
              <p:cNvPr id="6146" name="Picture 2" descr="Fuel/Water Level sensor S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6899" y="3733800"/>
                <a:ext cx="839194" cy="839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156" name="Group 6155"/>
            <p:cNvGrpSpPr/>
            <p:nvPr/>
          </p:nvGrpSpPr>
          <p:grpSpPr>
            <a:xfrm>
              <a:off x="1941230" y="1718846"/>
              <a:ext cx="1259170" cy="1329154"/>
              <a:chOff x="1941230" y="1718846"/>
              <a:chExt cx="1259170" cy="1329154"/>
            </a:xfrm>
          </p:grpSpPr>
          <p:sp>
            <p:nvSpPr>
              <p:cNvPr id="55" name="Rectangle 54"/>
              <p:cNvSpPr/>
              <p:nvPr/>
            </p:nvSpPr>
            <p:spPr bwMode="auto">
              <a:xfrm>
                <a:off x="2057401" y="2057400"/>
                <a:ext cx="980389" cy="990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057400" y="2362200"/>
                <a:ext cx="9950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smtClean="0">
                    <a:cs typeface="Times New Roman" panose="02020603050405020304" pitchFamily="18" charset="0"/>
                  </a:rPr>
                  <a:t>C</a:t>
                </a:r>
                <a:r>
                  <a:rPr lang="en-US" sz="1800" b="0" dirty="0" smtClean="0">
                    <a:cs typeface="Times New Roman" panose="02020603050405020304" pitchFamily="18" charset="0"/>
                  </a:rPr>
                  <a:t>(</a:t>
                </a:r>
                <a:r>
                  <a:rPr lang="en-US" sz="1800" b="0" i="1" dirty="0" smtClean="0">
                    <a:cs typeface="Times New Roman" panose="02020603050405020304" pitchFamily="18" charset="0"/>
                  </a:rPr>
                  <a:t>s</a:t>
                </a:r>
                <a:r>
                  <a:rPr lang="en-US" sz="1800" b="0" dirty="0" smtClean="0">
                    <a:cs typeface="Times New Roman" panose="02020603050405020304" pitchFamily="18" charset="0"/>
                  </a:rPr>
                  <a:t>)</a:t>
                </a:r>
                <a:endParaRPr lang="en-US" sz="1600" b="0" i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941230" y="1718846"/>
                <a:ext cx="12591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 smtClean="0">
                    <a:latin typeface="+mn-lt"/>
                  </a:rPr>
                  <a:t>Controller</a:t>
                </a:r>
                <a:endParaRPr lang="en-US" sz="1600" b="0" dirty="0">
                  <a:latin typeface="+mn-lt"/>
                </a:endParaRPr>
              </a:p>
            </p:txBody>
          </p:sp>
        </p:grpSp>
        <p:cxnSp>
          <p:nvCxnSpPr>
            <p:cNvPr id="82" name="Straight Arrow Connector 81"/>
            <p:cNvCxnSpPr/>
            <p:nvPr/>
          </p:nvCxnSpPr>
          <p:spPr bwMode="auto">
            <a:xfrm>
              <a:off x="3124200" y="2580278"/>
              <a:ext cx="1981201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165" name="Group 6164"/>
            <p:cNvGrpSpPr/>
            <p:nvPr/>
          </p:nvGrpSpPr>
          <p:grpSpPr>
            <a:xfrm>
              <a:off x="6085789" y="1566446"/>
              <a:ext cx="2905811" cy="1724440"/>
              <a:chOff x="6085789" y="1566446"/>
              <a:chExt cx="2905811" cy="1724440"/>
            </a:xfrm>
          </p:grpSpPr>
          <p:grpSp>
            <p:nvGrpSpPr>
              <p:cNvPr id="6149" name="Group 6148"/>
              <p:cNvGrpSpPr/>
              <p:nvPr/>
            </p:nvGrpSpPr>
            <p:grpSpPr>
              <a:xfrm>
                <a:off x="6629400" y="1566446"/>
                <a:ext cx="1371600" cy="1724440"/>
                <a:chOff x="6629400" y="1566446"/>
                <a:chExt cx="1371600" cy="1724440"/>
              </a:xfrm>
            </p:grpSpPr>
            <p:sp>
              <p:nvSpPr>
                <p:cNvPr id="4" name="Rectangle 3"/>
                <p:cNvSpPr/>
                <p:nvPr/>
              </p:nvSpPr>
              <p:spPr bwMode="auto">
                <a:xfrm>
                  <a:off x="6629400" y="1905000"/>
                  <a:ext cx="1371600" cy="1385886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  <a:extLst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  <p:pic>
              <p:nvPicPr>
                <p:cNvPr id="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6059" t="19827" r="14529" b="15580"/>
                <a:stretch/>
              </p:blipFill>
              <p:spPr bwMode="auto">
                <a:xfrm>
                  <a:off x="6705600" y="2235823"/>
                  <a:ext cx="1219200" cy="724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" name="TextBox 4"/>
                <p:cNvSpPr txBox="1"/>
                <p:nvPr/>
              </p:nvSpPr>
              <p:spPr>
                <a:xfrm>
                  <a:off x="6629400" y="1566446"/>
                  <a:ext cx="13716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0" dirty="0" smtClean="0">
                      <a:latin typeface="+mn-lt"/>
                    </a:rPr>
                    <a:t>Plant</a:t>
                  </a:r>
                  <a:endParaRPr lang="en-US" sz="1600" b="0" dirty="0">
                    <a:latin typeface="+mn-lt"/>
                  </a:endParaRPr>
                </a:p>
              </p:txBody>
            </p:sp>
          </p:grpSp>
          <p:grpSp>
            <p:nvGrpSpPr>
              <p:cNvPr id="6147" name="Group 6146"/>
              <p:cNvGrpSpPr/>
              <p:nvPr/>
            </p:nvGrpSpPr>
            <p:grpSpPr>
              <a:xfrm>
                <a:off x="7924800" y="2209800"/>
                <a:ext cx="1066800" cy="388143"/>
                <a:chOff x="7924800" y="2209800"/>
                <a:chExt cx="1066800" cy="388143"/>
              </a:xfrm>
            </p:grpSpPr>
            <p:cxnSp>
              <p:nvCxnSpPr>
                <p:cNvPr id="7" name="Straight Arrow Connector 6"/>
                <p:cNvCxnSpPr/>
                <p:nvPr/>
              </p:nvCxnSpPr>
              <p:spPr bwMode="auto">
                <a:xfrm>
                  <a:off x="8001000" y="2597943"/>
                  <a:ext cx="990600" cy="0"/>
                </a:xfrm>
                <a:prstGeom prst="straightConnector1">
                  <a:avLst/>
                </a:prstGeom>
                <a:ln>
                  <a:headEnd type="none" w="med" len="med"/>
                  <a:tailEnd type="arrow"/>
                </a:ln>
                <a:ex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/>
                <p:cNvSpPr txBox="1"/>
                <p:nvPr/>
              </p:nvSpPr>
              <p:spPr>
                <a:xfrm>
                  <a:off x="7924800" y="2209800"/>
                  <a:ext cx="1066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Y</a:t>
                  </a:r>
                  <a:r>
                    <a:rPr lang="en-US" sz="16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(</a:t>
                  </a:r>
                  <a:r>
                    <a:rPr lang="en-US" sz="16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s</a:t>
                  </a:r>
                  <a:r>
                    <a:rPr lang="en-US" sz="16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)</a:t>
                  </a:r>
                  <a:endParaRPr lang="en-US" sz="1600" b="0" dirty="0">
                    <a:solidFill>
                      <a:srgbClr val="0070C0"/>
                    </a:solidFill>
                    <a:latin typeface="+mn-lt"/>
                  </a:endParaRPr>
                </a:p>
              </p:txBody>
            </p:sp>
          </p:grpSp>
          <p:cxnSp>
            <p:nvCxnSpPr>
              <p:cNvPr id="83" name="Straight Arrow Connector 82"/>
              <p:cNvCxnSpPr/>
              <p:nvPr/>
            </p:nvCxnSpPr>
            <p:spPr bwMode="auto">
              <a:xfrm>
                <a:off x="6085789" y="2590799"/>
                <a:ext cx="543611" cy="1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52" name="Group 6151"/>
            <p:cNvGrpSpPr/>
            <p:nvPr/>
          </p:nvGrpSpPr>
          <p:grpSpPr>
            <a:xfrm>
              <a:off x="5100917" y="1749623"/>
              <a:ext cx="995083" cy="1298377"/>
              <a:chOff x="5100917" y="1749623"/>
              <a:chExt cx="995083" cy="1298377"/>
            </a:xfrm>
          </p:grpSpPr>
          <p:sp>
            <p:nvSpPr>
              <p:cNvPr id="40" name="Rectangle 39"/>
              <p:cNvSpPr/>
              <p:nvPr/>
            </p:nvSpPr>
            <p:spPr bwMode="auto">
              <a:xfrm>
                <a:off x="5115611" y="2057400"/>
                <a:ext cx="980389" cy="990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100917" y="1749623"/>
                <a:ext cx="9950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0" dirty="0" smtClean="0">
                    <a:latin typeface="+mn-lt"/>
                  </a:rPr>
                  <a:t>Valve</a:t>
                </a:r>
                <a:endParaRPr lang="en-US" sz="1600" b="0" dirty="0">
                  <a:latin typeface="+mn-lt"/>
                </a:endParaRPr>
              </a:p>
            </p:txBody>
          </p:sp>
          <p:pic>
            <p:nvPicPr>
              <p:cNvPr id="6148" name="Picture 4" descr="https://upload.wikimedia.org/wikipedia/commons/thumb/b/b2/Pl_control_valve.jpg/150px-Pl_control_valve.jp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060"/>
              <a:stretch/>
            </p:blipFill>
            <p:spPr bwMode="auto">
              <a:xfrm>
                <a:off x="5234595" y="2130940"/>
                <a:ext cx="745734" cy="844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166" name="Group 6165"/>
            <p:cNvGrpSpPr/>
            <p:nvPr/>
          </p:nvGrpSpPr>
          <p:grpSpPr>
            <a:xfrm>
              <a:off x="1219200" y="2819401"/>
              <a:ext cx="5287186" cy="1308846"/>
              <a:chOff x="1219200" y="2819401"/>
              <a:chExt cx="2362201" cy="1308846"/>
            </a:xfrm>
          </p:grpSpPr>
          <p:cxnSp>
            <p:nvCxnSpPr>
              <p:cNvPr id="18" name="Straight Arrow Connector 17"/>
              <p:cNvCxnSpPr/>
              <p:nvPr/>
            </p:nvCxnSpPr>
            <p:spPr bwMode="auto">
              <a:xfrm flipH="1">
                <a:off x="1219200" y="4128247"/>
                <a:ext cx="2362201" cy="0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 bwMode="auto">
              <a:xfrm flipV="1">
                <a:off x="1219200" y="2819401"/>
                <a:ext cx="0" cy="1308846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67" name="Group 6166"/>
            <p:cNvGrpSpPr/>
            <p:nvPr/>
          </p:nvGrpSpPr>
          <p:grpSpPr>
            <a:xfrm>
              <a:off x="76200" y="2145268"/>
              <a:ext cx="2028013" cy="922371"/>
              <a:chOff x="76200" y="2145268"/>
              <a:chExt cx="2028013" cy="922371"/>
            </a:xfrm>
          </p:grpSpPr>
          <p:grpSp>
            <p:nvGrpSpPr>
              <p:cNvPr id="6157" name="Group 6156"/>
              <p:cNvGrpSpPr/>
              <p:nvPr/>
            </p:nvGrpSpPr>
            <p:grpSpPr>
              <a:xfrm>
                <a:off x="1219199" y="2145268"/>
                <a:ext cx="885014" cy="445532"/>
                <a:chOff x="1219199" y="2145268"/>
                <a:chExt cx="885014" cy="445532"/>
              </a:xfrm>
            </p:grpSpPr>
            <p:cxnSp>
              <p:nvCxnSpPr>
                <p:cNvPr id="58" name="Straight Arrow Connector 57"/>
                <p:cNvCxnSpPr/>
                <p:nvPr/>
              </p:nvCxnSpPr>
              <p:spPr bwMode="auto">
                <a:xfrm>
                  <a:off x="1447800" y="2590800"/>
                  <a:ext cx="609600" cy="0"/>
                </a:xfrm>
                <a:prstGeom prst="straightConnector1">
                  <a:avLst/>
                </a:prstGeom>
                <a:ln>
                  <a:headEnd type="none" w="med" len="med"/>
                  <a:tailEnd type="arrow"/>
                </a:ln>
                <a:ex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219199" y="2145268"/>
                  <a:ext cx="8850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E</a:t>
                  </a:r>
                  <a:r>
                    <a:rPr lang="en-US" sz="18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(</a:t>
                  </a:r>
                  <a:r>
                    <a:rPr lang="en-US" sz="18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s</a:t>
                  </a:r>
                  <a:r>
                    <a:rPr lang="en-US" sz="18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)</a:t>
                  </a:r>
                  <a:endParaRPr lang="en-US" sz="1600" b="0" dirty="0">
                    <a:solidFill>
                      <a:srgbClr val="0070C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35" name="Oval 34"/>
              <p:cNvSpPr/>
              <p:nvPr/>
            </p:nvSpPr>
            <p:spPr bwMode="auto">
              <a:xfrm>
                <a:off x="990599" y="2357546"/>
                <a:ext cx="457200" cy="445463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cxnSp>
            <p:nvCxnSpPr>
              <p:cNvPr id="6144" name="Straight Connector 6143"/>
              <p:cNvCxnSpPr/>
              <p:nvPr/>
            </p:nvCxnSpPr>
            <p:spPr bwMode="auto">
              <a:xfrm>
                <a:off x="927846" y="3067639"/>
                <a:ext cx="1524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6158" name="Group 6157"/>
              <p:cNvGrpSpPr/>
              <p:nvPr/>
            </p:nvGrpSpPr>
            <p:grpSpPr>
              <a:xfrm>
                <a:off x="76200" y="2145268"/>
                <a:ext cx="885014" cy="674132"/>
                <a:chOff x="76200" y="2145268"/>
                <a:chExt cx="885014" cy="674132"/>
              </a:xfrm>
            </p:grpSpPr>
            <p:cxnSp>
              <p:nvCxnSpPr>
                <p:cNvPr id="37" name="Straight Arrow Connector 36"/>
                <p:cNvCxnSpPr/>
                <p:nvPr/>
              </p:nvCxnSpPr>
              <p:spPr bwMode="auto">
                <a:xfrm>
                  <a:off x="152400" y="2572699"/>
                  <a:ext cx="808814" cy="1"/>
                </a:xfrm>
                <a:prstGeom prst="straightConnector1">
                  <a:avLst/>
                </a:prstGeom>
                <a:ln>
                  <a:headEnd type="none" w="med" len="med"/>
                  <a:tailEnd type="arrow"/>
                </a:ln>
                <a:ex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76200" y="2145268"/>
                  <a:ext cx="8850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R</a:t>
                  </a:r>
                  <a:r>
                    <a:rPr lang="en-US" sz="18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(</a:t>
                  </a:r>
                  <a:r>
                    <a:rPr lang="en-US" sz="1800" b="0" i="1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s</a:t>
                  </a:r>
                  <a:r>
                    <a:rPr lang="en-US" sz="1800" b="0" dirty="0" smtClean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)</a:t>
                  </a:r>
                  <a:endParaRPr lang="en-US" sz="1600" b="0" dirty="0">
                    <a:solidFill>
                      <a:srgbClr val="0070C0"/>
                    </a:solidFill>
                    <a:latin typeface="+mn-lt"/>
                  </a:endParaRPr>
                </a:p>
              </p:txBody>
            </p:sp>
            <p:cxnSp>
              <p:nvCxnSpPr>
                <p:cNvPr id="105" name="Straight Connector 104"/>
                <p:cNvCxnSpPr/>
                <p:nvPr/>
              </p:nvCxnSpPr>
              <p:spPr bwMode="auto">
                <a:xfrm>
                  <a:off x="609600" y="2742206"/>
                  <a:ext cx="1524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rot="5400000">
                  <a:off x="609600" y="2743200"/>
                  <a:ext cx="1524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70" name="TextBox 69"/>
            <p:cNvSpPr txBox="1"/>
            <p:nvPr/>
          </p:nvSpPr>
          <p:spPr>
            <a:xfrm>
              <a:off x="3763186" y="2133600"/>
              <a:ext cx="885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17430" y="1811537"/>
            <a:ext cx="5983570" cy="3065263"/>
            <a:chOff x="2017430" y="1811537"/>
            <a:chExt cx="5983570" cy="3065263"/>
          </a:xfrm>
        </p:grpSpPr>
        <p:sp>
          <p:nvSpPr>
            <p:cNvPr id="10" name="Rectangle 9"/>
            <p:cNvSpPr/>
            <p:nvPr/>
          </p:nvSpPr>
          <p:spPr bwMode="auto">
            <a:xfrm>
              <a:off x="2017430" y="1811537"/>
              <a:ext cx="1563970" cy="1541263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362200" y="2373868"/>
              <a:ext cx="885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C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5105400" y="1811537"/>
              <a:ext cx="2895600" cy="1541263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791200" y="2373868"/>
              <a:ext cx="16385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G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5943600" y="3411738"/>
              <a:ext cx="1563970" cy="1465062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288370" y="3974068"/>
              <a:ext cx="885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74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Ungraded clicker exercises – root locus rules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If the loop gain is given by                    and the system is proper, how many loci will you have?</a:t>
            </a: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/>
              <a:t>Order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/>
              <a:t>Order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/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/>
              <a:t>Order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+ order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cs typeface="Times New Roman" panose="02020603050405020304" pitchFamily="18" charset="0"/>
              </a:rPr>
              <a:t>Where do loci start 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dirty="0" smtClean="0">
                <a:cs typeface="Times New Roman" panose="02020603050405020304" pitchFamily="18" charset="0"/>
              </a:rPr>
              <a:t>) and end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dirty="0" smtClean="0">
                <a:cs typeface="Times New Roman" panose="02020603050405020304" pitchFamily="18" charset="0"/>
              </a:rPr>
              <a:t>)?</a:t>
            </a: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>
                <a:cs typeface="Times New Roman" panose="02020603050405020304" pitchFamily="18" charset="0"/>
              </a:rPr>
              <a:t>Loci start at the open loop poles (roots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cs typeface="Times New Roman" panose="02020603050405020304" pitchFamily="18" charset="0"/>
              </a:rPr>
              <a:t>) and end at the open loop zeros (roots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cs typeface="Times New Roman" panose="02020603050405020304" pitchFamily="18" charset="0"/>
              </a:rPr>
              <a:t>).</a:t>
            </a: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>
                <a:cs typeface="Times New Roman" panose="02020603050405020304" pitchFamily="18" charset="0"/>
              </a:rPr>
              <a:t>Loci start at the closed loop poles (roots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cs typeface="Times New Roman" panose="02020603050405020304" pitchFamily="18" charset="0"/>
              </a:rPr>
              <a:t>) and end at the closed loop zeros.</a:t>
            </a:r>
            <a:endParaRPr 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77579"/>
              </p:ext>
            </p:extLst>
          </p:nvPr>
        </p:nvGraphicFramePr>
        <p:xfrm>
          <a:off x="4495800" y="1138104"/>
          <a:ext cx="1524000" cy="843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761760" imgH="419040" progId="Equation.3">
                  <p:embed/>
                </p:oleObj>
              </mc:Choice>
              <mc:Fallback>
                <p:oleObj name="Equation" r:id="rId3" imgW="761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38104"/>
                        <a:ext cx="1524000" cy="843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517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Ungraded clicker exercises – root locus rules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smtClean="0"/>
              <a:t>If the loop gain is given by                   , where on the real axis will you have loci?</a:t>
            </a:r>
          </a:p>
          <a:p>
            <a:pPr marL="857250" lvl="1" indent="-457200">
              <a:buFont typeface="+mj-lt"/>
              <a:buAutoNum type="alphaUcPeriod"/>
            </a:pPr>
            <a:r>
              <a:rPr lang="en-US" dirty="0"/>
              <a:t>To the left of an odd number of </a:t>
            </a:r>
            <a:r>
              <a:rPr lang="en-US" dirty="0" smtClean="0"/>
              <a:t>poles </a:t>
            </a:r>
            <a:r>
              <a:rPr lang="en-US" dirty="0"/>
              <a:t>and zeros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(i.e., </a:t>
            </a:r>
            <a:r>
              <a:rPr lang="en-US" dirty="0" smtClean="0"/>
              <a:t>roots </a:t>
            </a:r>
            <a:r>
              <a:rPr lang="en-US" dirty="0"/>
              <a:t>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r>
              <a:rPr lang="en-US" dirty="0"/>
              <a:t>Whenever there is an odd number of </a:t>
            </a:r>
            <a:r>
              <a:rPr lang="en-US" dirty="0" smtClean="0"/>
              <a:t>poles </a:t>
            </a:r>
            <a:r>
              <a:rPr lang="en-US" dirty="0"/>
              <a:t>and zeros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to the right of the locus.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/>
              <a:t>To the left of an odd number of </a:t>
            </a:r>
            <a:r>
              <a:rPr lang="en-US" i="1" dirty="0" smtClean="0"/>
              <a:t>real</a:t>
            </a:r>
            <a:r>
              <a:rPr lang="en-US" dirty="0" smtClean="0"/>
              <a:t> poles and zeros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(i.e., real roots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r>
              <a:rPr lang="en-US" dirty="0" smtClean="0"/>
              <a:t>Whenever there is </a:t>
            </a:r>
            <a:r>
              <a:rPr lang="en-US" dirty="0"/>
              <a:t>an odd number of </a:t>
            </a:r>
            <a:r>
              <a:rPr lang="en-US" i="1" dirty="0"/>
              <a:t>real</a:t>
            </a:r>
            <a:r>
              <a:rPr lang="en-US" dirty="0"/>
              <a:t> poles and zeros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</a:t>
            </a:r>
            <a:r>
              <a:rPr lang="en-US" dirty="0" smtClean="0"/>
              <a:t>to the right of the locus.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dirty="0" smtClean="0"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dirty="0" smtClean="0">
                <a:cs typeface="Times New Roman" panose="02020603050405020304" pitchFamily="18" charset="0"/>
              </a:rPr>
              <a:t>On your Exam 2 note card, don’t forget the last rule (asymptote centers and angles</a:t>
            </a:r>
            <a:endParaRPr 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125608"/>
              </p:ext>
            </p:extLst>
          </p:nvPr>
        </p:nvGraphicFramePr>
        <p:xfrm>
          <a:off x="4495800" y="1138104"/>
          <a:ext cx="1524000" cy="843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761760" imgH="419040" progId="Equation.3">
                  <p:embed/>
                </p:oleObj>
              </mc:Choice>
              <mc:Fallback>
                <p:oleObj name="Equation" r:id="rId3" imgW="761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38104"/>
                        <a:ext cx="1524000" cy="843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659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lectures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https://www.youtube.com/watch?v=eTVddYCeiKI</a:t>
            </a:r>
          </a:p>
          <a:p>
            <a:r>
              <a:rPr lang="en-US" dirty="0"/>
              <a:t>https://www.youtube.com/watch?v=jb_FiP5tKig (watch through Rule 8, which ends at around 11:20)</a:t>
            </a:r>
          </a:p>
          <a:p>
            <a:endParaRPr lang="en-US" dirty="0"/>
          </a:p>
          <a:p>
            <a:r>
              <a:rPr lang="en-US" dirty="0" smtClean="0"/>
              <a:t>Could be used for flipped classes; follows reasonably closely with our Intro to Root </a:t>
            </a:r>
            <a:r>
              <a:rPr lang="en-US" smtClean="0"/>
              <a:t>Locus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6507</TotalTime>
  <Pages>21</Pages>
  <Words>429</Words>
  <Application>Microsoft Office PowerPoint</Application>
  <PresentationFormat>On-screen Show (4:3)</PresentationFormat>
  <Paragraphs>59</Paragraphs>
  <Slides>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1_CSM</vt:lpstr>
      <vt:lpstr>Equation</vt:lpstr>
      <vt:lpstr>Lecture 20: Introduction to Root Locus</vt:lpstr>
      <vt:lpstr>Proportional control of a water tank (2)</vt:lpstr>
      <vt:lpstr>Proportional control of a water tank - simplified</vt:lpstr>
      <vt:lpstr>Ungraded clicker exercises – root locus rules (1)</vt:lpstr>
      <vt:lpstr>Ungraded clicker exercises – root locus rules (2)</vt:lpstr>
      <vt:lpstr>Video lectures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211</cp:revision>
  <cp:lastPrinted>2011-01-12T15:38:30Z</cp:lastPrinted>
  <dcterms:created xsi:type="dcterms:W3CDTF">2004-08-03T22:49:26Z</dcterms:created>
  <dcterms:modified xsi:type="dcterms:W3CDTF">2017-10-12T02:58:12Z</dcterms:modified>
</cp:coreProperties>
</file>