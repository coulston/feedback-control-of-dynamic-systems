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5"/>
  </p:notesMasterIdLst>
  <p:handoutMasterIdLst>
    <p:handoutMasterId r:id="rId6"/>
  </p:handoutMasterIdLst>
  <p:sldIdLst>
    <p:sldId id="257" r:id="rId2"/>
    <p:sldId id="272" r:id="rId3"/>
    <p:sldId id="273" r:id="rId4"/>
  </p:sldIdLst>
  <p:sldSz cx="9144000" cy="6858000" type="screen4x3"/>
  <p:notesSz cx="9296400" cy="7010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866D6"/>
    <a:srgbClr val="7518E6"/>
    <a:srgbClr val="F707E0"/>
    <a:srgbClr val="EFFFFF"/>
    <a:srgbClr val="DDFFFF"/>
    <a:srgbClr val="008080"/>
    <a:srgbClr val="FF0000"/>
    <a:srgbClr val="9933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84" autoAdjust="0"/>
    <p:restoredTop sz="94704" autoAdjust="0"/>
  </p:normalViewPr>
  <p:slideViewPr>
    <p:cSldViewPr>
      <p:cViewPr varScale="1">
        <p:scale>
          <a:sx n="82" d="100"/>
          <a:sy n="82" d="100"/>
        </p:scale>
        <p:origin x="-1378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4064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41666" y="3330419"/>
            <a:ext cx="6813070" cy="3153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1" tIns="44918" rIns="91441" bIns="449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notes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8300" y="530225"/>
            <a:ext cx="3490913" cy="26193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96504" y="32012"/>
            <a:ext cx="3291929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l" defTabSz="923925"/>
            <a:r>
              <a:rPr lang="en-US" sz="1400" b="0"/>
              <a:t>Tyrone Vincent - tvincent@eecs.umich.edu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8808984" y="6667711"/>
            <a:ext cx="393058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r" defTabSz="923925"/>
            <a:fld id="{183E808D-F99F-4B9D-8352-195EAC193A89}" type="slidenum">
              <a:rPr lang="en-US" sz="1400" b="0"/>
              <a:pPr algn="r" defTabSz="923925"/>
              <a:t>‹#›</a:t>
            </a:fld>
            <a:endParaRPr lang="en-US" sz="1400" b="0"/>
          </a:p>
        </p:txBody>
      </p:sp>
    </p:spTree>
    <p:extLst>
      <p:ext uri="{BB962C8B-B14F-4D97-AF65-F5344CB8AC3E}">
        <p14:creationId xmlns:p14="http://schemas.microsoft.com/office/powerpoint/2010/main" val="304218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6713" y="530225"/>
            <a:ext cx="3492500" cy="2619375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676400"/>
          </a:xfrm>
        </p:spPr>
        <p:txBody>
          <a:bodyPr/>
          <a:lstStyle>
            <a:lvl1pPr algn="ctr">
              <a:defRPr sz="3600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38600"/>
            <a:ext cx="6400800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180228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30F1D48F-0C8B-4CD2-93D0-5232B7F405E7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80229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0230" name="Rectangle 6"/>
          <p:cNvSpPr>
            <a:spLocks noChangeArrowheads="1"/>
          </p:cNvSpPr>
          <p:nvPr/>
        </p:nvSpPr>
        <p:spPr bwMode="auto">
          <a:xfrm>
            <a:off x="0" y="3657600"/>
            <a:ext cx="82296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80232" name="Picture 8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3124200"/>
            <a:ext cx="74771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0233" name="Text Box 9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EENG307: Introduction to Feedback Control Systems</a:t>
            </a:r>
            <a:endParaRPr lang="en-US" sz="1200" b="0" dirty="0">
              <a:solidFill>
                <a:srgbClr val="008080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7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165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18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5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8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714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732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1280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03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-12700"/>
            <a:ext cx="2095500" cy="6184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-12700"/>
            <a:ext cx="6134100" cy="6184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520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2700"/>
            <a:ext cx="7772400" cy="6223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143000"/>
            <a:ext cx="4114800" cy="2438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33800"/>
            <a:ext cx="4114800" cy="2438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5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-12700"/>
            <a:ext cx="7772400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3820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21860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E880E0BA-0E01-4C8C-AD44-E1CE19588DBC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21861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64" name="Rectangle 8"/>
          <p:cNvSpPr>
            <a:spLocks noChangeArrowheads="1"/>
          </p:cNvSpPr>
          <p:nvPr userDrawn="1"/>
        </p:nvSpPr>
        <p:spPr bwMode="auto">
          <a:xfrm>
            <a:off x="0" y="762000"/>
            <a:ext cx="83820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21865" name="Picture 9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381000"/>
            <a:ext cx="59848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1866" name="Text Box 10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EENG307</a:t>
            </a:r>
            <a:r>
              <a:rPr lang="en-US" sz="1200" b="0" dirty="0">
                <a:solidFill>
                  <a:srgbClr val="008080"/>
                </a:solidFill>
                <a:latin typeface="Arial" charset="0"/>
              </a:rPr>
              <a:t>: </a:t>
            </a: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Introduction to Feedback Control Systems</a:t>
            </a:r>
            <a:endParaRPr lang="en-US" sz="1200" b="0" dirty="0">
              <a:solidFill>
                <a:srgbClr val="008080"/>
              </a:solidFill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5000"/>
        <a:buFont typeface="Wingdings" pitchFamily="2" charset="2"/>
        <a:buChar char="v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100000"/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Times New Roman" pitchFamily="18" charset="0"/>
        <a:buChar char="◘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00213"/>
            <a:ext cx="7772400" cy="1303337"/>
          </a:xfrm>
        </p:spPr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</a:rPr>
              <a:t>Lecture 31: Systems with </a:t>
            </a:r>
            <a:r>
              <a:rPr lang="en-US" sz="3200" smtClean="0">
                <a:solidFill>
                  <a:schemeClr val="tx1"/>
                </a:solidFill>
              </a:rPr>
              <a:t>Time Delay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Introduction to Feedback Control Systems</a:t>
            </a:r>
          </a:p>
          <a:p>
            <a:r>
              <a:rPr lang="en-US" dirty="0" smtClean="0"/>
              <a:t>Section D (Johnson)</a:t>
            </a:r>
          </a:p>
          <a:p>
            <a:r>
              <a:rPr lang="en-US" dirty="0" smtClean="0"/>
              <a:t>Fall 2016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Impact of Time Delay on Active Prosthetic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5867400" cy="5257800"/>
          </a:xfrm>
        </p:spPr>
        <p:txBody>
          <a:bodyPr>
            <a:normAutofit/>
          </a:bodyPr>
          <a:lstStyle/>
          <a:p>
            <a:r>
              <a:rPr lang="en-US" dirty="0" smtClean="0"/>
              <a:t>Original Bode plot (from maximum motor force to maximum spring force):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What are the GM and PM?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357" y="1905000"/>
            <a:ext cx="5791202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447800"/>
            <a:ext cx="2761615" cy="329597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163185" y="5599093"/>
            <a:ext cx="39808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 panose="020B0604020202020204" pitchFamily="34" charset="0"/>
                <a:cs typeface="Arial" panose="020B0604020202020204" pitchFamily="34" charset="0"/>
              </a:rPr>
              <a:t>Samuel Au, Jeff Weber, Hugh Herr, “Powered Ankle-Foot Prosthesis Improves Walking Metabolic Economy,” </a:t>
            </a:r>
            <a:r>
              <a:rPr lang="en-US" sz="1400" b="0" i="1" dirty="0">
                <a:latin typeface="Arial" panose="020B0604020202020204" pitchFamily="34" charset="0"/>
                <a:cs typeface="Arial" panose="020B0604020202020204" pitchFamily="34" charset="0"/>
              </a:rPr>
              <a:t>IEEE Trans. on Robotics</a:t>
            </a:r>
            <a:r>
              <a:rPr lang="en-US" sz="1400" b="0" dirty="0">
                <a:latin typeface="Arial" panose="020B0604020202020204" pitchFamily="34" charset="0"/>
                <a:cs typeface="Arial" panose="020B0604020202020204" pitchFamily="34" charset="0"/>
              </a:rPr>
              <a:t>, Vol. 25, No. 1, Feb. 2009.</a:t>
            </a:r>
          </a:p>
        </p:txBody>
      </p:sp>
    </p:spTree>
    <p:extLst>
      <p:ext uri="{BB962C8B-B14F-4D97-AF65-F5344CB8AC3E}">
        <p14:creationId xmlns:p14="http://schemas.microsoft.com/office/powerpoint/2010/main" val="1390205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Time Delay on Active </a:t>
            </a:r>
            <a:r>
              <a:rPr lang="en-US" dirty="0" smtClean="0"/>
              <a:t>Prosthetic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382000" cy="5334000"/>
          </a:xfrm>
        </p:spPr>
        <p:txBody>
          <a:bodyPr>
            <a:normAutofit/>
          </a:bodyPr>
          <a:lstStyle/>
          <a:p>
            <a:r>
              <a:rPr lang="en-US" dirty="0" smtClean="0"/>
              <a:t>Active prosthetic Bode plot with 0.1 s time delay: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What is the impact on the GM and PM?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950" y="1295400"/>
            <a:ext cx="6134100" cy="467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950" y="1295400"/>
            <a:ext cx="6134100" cy="467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120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CSM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1_CS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_CS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SM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 Notes</Template>
  <TotalTime>6807</TotalTime>
  <Pages>21</Pages>
  <Words>112</Words>
  <Application>Microsoft Office PowerPoint</Application>
  <PresentationFormat>On-screen Show (4:3)</PresentationFormat>
  <Paragraphs>30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1_CSM</vt:lpstr>
      <vt:lpstr>Lecture 31: Systems with Time Delay</vt:lpstr>
      <vt:lpstr>Impact of Time Delay on Active Prosthetic</vt:lpstr>
      <vt:lpstr>Impact of Time Delay on Active Prosthetic (2)</vt:lpstr>
    </vt:vector>
  </TitlesOfParts>
  <Company>Colorado School of Mines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EGGN 407 Introduction to Feedback Control</dc:title>
  <cp:lastModifiedBy>Kathryn Johnson</cp:lastModifiedBy>
  <cp:revision>198</cp:revision>
  <cp:lastPrinted>2011-01-12T15:38:30Z</cp:lastPrinted>
  <dcterms:created xsi:type="dcterms:W3CDTF">2004-08-03T22:49:26Z</dcterms:created>
  <dcterms:modified xsi:type="dcterms:W3CDTF">2017-10-12T02:48:10Z</dcterms:modified>
</cp:coreProperties>
</file>